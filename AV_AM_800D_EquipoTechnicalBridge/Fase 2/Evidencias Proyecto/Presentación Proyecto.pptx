
<file path=[Content_Types].xml><?xml version="1.0" encoding="utf-8"?>
<Types xmlns="http://schemas.openxmlformats.org/package/2006/content-types">
  <Default Extension="bin" ContentType="application/vnd.openxmlformats-officedocument.oleObject"/>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8288000" cy="10287000"/>
  <p:notesSz cx="6858000" cy="9144000"/>
  <p:embeddedFontLst>
    <p:embeddedFont>
      <p:font typeface="Canva Sans" panose="020B0604020202020204" charset="0"/>
      <p:regular r:id="rId16"/>
    </p:embeddedFont>
    <p:embeddedFont>
      <p:font typeface="Canva Sans Bold" panose="020B0604020202020204" charset="0"/>
      <p:regular r:id="rId17"/>
    </p:embeddedFont>
    <p:embeddedFont>
      <p:font typeface="Canva Sans Medium" panose="020B0604020202020204" charset="0"/>
      <p:regular r:id="rId18"/>
    </p:embeddedFont>
    <p:embeddedFont>
      <p:font typeface="Mokoto" panose="020B0604020202020204" charset="0"/>
      <p:regular r:id="rId19"/>
    </p:embeddedFont>
    <p:embeddedFont>
      <p:font typeface="Sniglet" panose="020B0604020202020204" charset="0"/>
      <p:regular r:id="rId2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51" d="100"/>
          <a:sy n="51" d="100"/>
        </p:scale>
        <p:origin x="898" y="53"/>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3.fntdata"/><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2.fntdata"/><Relationship Id="rId2" Type="http://schemas.openxmlformats.org/officeDocument/2006/relationships/slide" Target="slides/slide1.xml"/><Relationship Id="rId16" Type="http://schemas.openxmlformats.org/officeDocument/2006/relationships/font" Target="fonts/font1.fntdata"/><Relationship Id="rId20" Type="http://schemas.openxmlformats.org/officeDocument/2006/relationships/font" Target="fonts/font5.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notesMaster" Target="notesMasters/notesMaster1.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font" Target="fonts/font4.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19.10.2026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‹Nº›</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Martin</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10/19/2026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10/19/2026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10/19/2026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10/19/2026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10/19/2026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10/19/2026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10/19/2026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‹Nº›</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4.svg"/><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7.sv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svg"/><Relationship Id="rId1" Type="http://schemas.openxmlformats.org/officeDocument/2006/relationships/slideLayout" Target="../slideLayouts/slideLayout7.xml"/><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8.svg"/><Relationship Id="rId1" Type="http://schemas.openxmlformats.org/officeDocument/2006/relationships/slideLayout" Target="../slideLayouts/slideLayout7.xml"/><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2" Type="http://schemas.openxmlformats.org/officeDocument/2006/relationships/image" Target="../media/image13.sv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oleObject" Target="../embeddings/oleObject1.bin"/><Relationship Id="rId1" Type="http://schemas.openxmlformats.org/officeDocument/2006/relationships/slideLayout" Target="../slideLayouts/slideLayout7.xml"/><Relationship Id="rId5" Type="http://schemas.openxmlformats.org/officeDocument/2006/relationships/image" Target="../media/image16.png"/><Relationship Id="rId4" Type="http://schemas.openxmlformats.org/officeDocument/2006/relationships/image" Target="../media/image15.png"/></Relationships>
</file>

<file path=ppt/slides/_rels/slide1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8.sv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0F6F5"/>
        </a:solidFill>
        <a:effectLst/>
      </p:bgPr>
    </p:bg>
    <p:spTree>
      <p:nvGrpSpPr>
        <p:cNvPr id="1" name=""/>
        <p:cNvGrpSpPr/>
        <p:nvPr/>
      </p:nvGrpSpPr>
      <p:grpSpPr>
        <a:xfrm>
          <a:off x="0" y="0"/>
          <a:ext cx="0" cy="0"/>
          <a:chOff x="0" y="0"/>
          <a:chExt cx="0" cy="0"/>
        </a:xfrm>
      </p:grpSpPr>
      <p:sp>
        <p:nvSpPr>
          <p:cNvPr id="2" name="Freeform 2"/>
          <p:cNvSpPr/>
          <p:nvPr/>
        </p:nvSpPr>
        <p:spPr>
          <a:xfrm>
            <a:off x="9116363" y="4810293"/>
            <a:ext cx="4791604" cy="4791604"/>
          </a:xfrm>
          <a:custGeom>
            <a:avLst/>
            <a:gdLst/>
            <a:ahLst/>
            <a:cxnLst/>
            <a:rect l="l" t="t" r="r" b="b"/>
            <a:pathLst>
              <a:path w="4791604" h="4791604">
                <a:moveTo>
                  <a:pt x="0" y="0"/>
                </a:moveTo>
                <a:lnTo>
                  <a:pt x="4791605" y="0"/>
                </a:lnTo>
                <a:lnTo>
                  <a:pt x="4791605" y="4791604"/>
                </a:lnTo>
                <a:lnTo>
                  <a:pt x="0" y="4791604"/>
                </a:lnTo>
                <a:lnTo>
                  <a:pt x="0" y="0"/>
                </a:lnTo>
                <a:close/>
              </a:path>
            </a:pathLst>
          </a:custGeom>
          <a:blipFill>
            <a:blip r:embed="rId3"/>
            <a:stretch>
              <a:fillRect/>
            </a:stretch>
          </a:blipFill>
        </p:spPr>
        <p:txBody>
          <a:bodyPr/>
          <a:lstStyle/>
          <a:p>
            <a:endParaRPr lang="es-CL"/>
          </a:p>
        </p:txBody>
      </p:sp>
      <p:grpSp>
        <p:nvGrpSpPr>
          <p:cNvPr id="3" name="Group 3"/>
          <p:cNvGrpSpPr/>
          <p:nvPr/>
        </p:nvGrpSpPr>
        <p:grpSpPr>
          <a:xfrm>
            <a:off x="-2650287" y="-211369"/>
            <a:ext cx="23003269" cy="5169788"/>
            <a:chOff x="0" y="0"/>
            <a:chExt cx="6058474" cy="1361590"/>
          </a:xfrm>
        </p:grpSpPr>
        <p:sp>
          <p:nvSpPr>
            <p:cNvPr id="4" name="Freeform 4"/>
            <p:cNvSpPr/>
            <p:nvPr/>
          </p:nvSpPr>
          <p:spPr>
            <a:xfrm>
              <a:off x="0" y="0"/>
              <a:ext cx="6058474" cy="1361590"/>
            </a:xfrm>
            <a:custGeom>
              <a:avLst/>
              <a:gdLst/>
              <a:ahLst/>
              <a:cxnLst/>
              <a:rect l="l" t="t" r="r" b="b"/>
              <a:pathLst>
                <a:path w="6058474" h="1361590">
                  <a:moveTo>
                    <a:pt x="0" y="0"/>
                  </a:moveTo>
                  <a:lnTo>
                    <a:pt x="6058474" y="0"/>
                  </a:lnTo>
                  <a:lnTo>
                    <a:pt x="6058474" y="1361590"/>
                  </a:lnTo>
                  <a:lnTo>
                    <a:pt x="0" y="1361590"/>
                  </a:lnTo>
                  <a:close/>
                </a:path>
              </a:pathLst>
            </a:custGeom>
            <a:solidFill>
              <a:srgbClr val="4E767D"/>
            </a:solidFill>
          </p:spPr>
          <p:txBody>
            <a:bodyPr/>
            <a:lstStyle/>
            <a:p>
              <a:endParaRPr lang="es-CL"/>
            </a:p>
          </p:txBody>
        </p:sp>
        <p:sp>
          <p:nvSpPr>
            <p:cNvPr id="5" name="TextBox 5"/>
            <p:cNvSpPr txBox="1"/>
            <p:nvPr/>
          </p:nvSpPr>
          <p:spPr>
            <a:xfrm>
              <a:off x="0" y="-47625"/>
              <a:ext cx="6058474" cy="1409215"/>
            </a:xfrm>
            <a:prstGeom prst="rect">
              <a:avLst/>
            </a:prstGeom>
          </p:spPr>
          <p:txBody>
            <a:bodyPr lIns="50800" tIns="50800" rIns="50800" bIns="50800" rtlCol="0" anchor="ctr"/>
            <a:lstStyle/>
            <a:p>
              <a:pPr algn="ctr">
                <a:lnSpc>
                  <a:spcPts val="3174"/>
                </a:lnSpc>
              </a:pPr>
              <a:endParaRPr/>
            </a:p>
          </p:txBody>
        </p:sp>
      </p:grpSp>
      <p:sp>
        <p:nvSpPr>
          <p:cNvPr id="6" name="TextBox 6"/>
          <p:cNvSpPr txBox="1"/>
          <p:nvPr/>
        </p:nvSpPr>
        <p:spPr>
          <a:xfrm>
            <a:off x="387855" y="2798505"/>
            <a:ext cx="17691494" cy="1307385"/>
          </a:xfrm>
          <a:prstGeom prst="rect">
            <a:avLst/>
          </a:prstGeom>
        </p:spPr>
        <p:txBody>
          <a:bodyPr lIns="0" tIns="0" rIns="0" bIns="0" rtlCol="0" anchor="t">
            <a:spAutoFit/>
          </a:bodyPr>
          <a:lstStyle/>
          <a:p>
            <a:pPr marL="0" lvl="0" indent="0" algn="l">
              <a:lnSpc>
                <a:spcPts val="10490"/>
              </a:lnSpc>
            </a:pPr>
            <a:r>
              <a:rPr lang="en-US" sz="8195" spc="-1016">
                <a:solidFill>
                  <a:srgbClr val="F0F6F5"/>
                </a:solidFill>
                <a:latin typeface="Mokoto"/>
                <a:ea typeface="Mokoto"/>
                <a:cs typeface="Mokoto"/>
                <a:sym typeface="Mokoto"/>
              </a:rPr>
              <a:t>PROYECTO APT - CAPSTONE</a:t>
            </a:r>
          </a:p>
        </p:txBody>
      </p:sp>
      <p:sp>
        <p:nvSpPr>
          <p:cNvPr id="7" name="TextBox 7"/>
          <p:cNvSpPr txBox="1"/>
          <p:nvPr/>
        </p:nvSpPr>
        <p:spPr>
          <a:xfrm>
            <a:off x="4441150" y="4048740"/>
            <a:ext cx="9350427" cy="761553"/>
          </a:xfrm>
          <a:prstGeom prst="rect">
            <a:avLst/>
          </a:prstGeom>
        </p:spPr>
        <p:txBody>
          <a:bodyPr lIns="0" tIns="0" rIns="0" bIns="0" rtlCol="0" anchor="t">
            <a:spAutoFit/>
          </a:bodyPr>
          <a:lstStyle/>
          <a:p>
            <a:pPr marL="0" lvl="0" indent="0" algn="l">
              <a:lnSpc>
                <a:spcPts val="6174"/>
              </a:lnSpc>
            </a:pPr>
            <a:r>
              <a:rPr lang="en-US" sz="4642" b="1">
                <a:solidFill>
                  <a:srgbClr val="FBFEFE"/>
                </a:solidFill>
                <a:latin typeface="Canva Sans Bold"/>
                <a:ea typeface="Canva Sans Bold"/>
                <a:cs typeface="Canva Sans Bold"/>
                <a:sym typeface="Canva Sans Bold"/>
              </a:rPr>
              <a:t>Technical Bridge - DATABRIDGE</a:t>
            </a:r>
          </a:p>
        </p:txBody>
      </p:sp>
      <p:sp>
        <p:nvSpPr>
          <p:cNvPr id="8" name="TextBox 8"/>
          <p:cNvSpPr txBox="1"/>
          <p:nvPr/>
        </p:nvSpPr>
        <p:spPr>
          <a:xfrm>
            <a:off x="3944913" y="5086350"/>
            <a:ext cx="4718806" cy="4187190"/>
          </a:xfrm>
          <a:prstGeom prst="rect">
            <a:avLst/>
          </a:prstGeom>
        </p:spPr>
        <p:txBody>
          <a:bodyPr lIns="0" tIns="0" rIns="0" bIns="0" rtlCol="0" anchor="t">
            <a:spAutoFit/>
          </a:bodyPr>
          <a:lstStyle/>
          <a:p>
            <a:pPr algn="l">
              <a:lnSpc>
                <a:spcPts val="3359"/>
              </a:lnSpc>
            </a:pPr>
            <a:r>
              <a:rPr lang="en-US" sz="2399">
                <a:solidFill>
                  <a:srgbClr val="000000"/>
                </a:solidFill>
                <a:latin typeface="Sniglet"/>
                <a:ea typeface="Sniglet"/>
                <a:cs typeface="Sniglet"/>
                <a:sym typeface="Sniglet"/>
              </a:rPr>
              <a:t>Nombres:</a:t>
            </a:r>
          </a:p>
          <a:p>
            <a:pPr marL="518158" lvl="1" indent="-259079" algn="l">
              <a:lnSpc>
                <a:spcPts val="3359"/>
              </a:lnSpc>
              <a:buFont typeface="Arial"/>
              <a:buChar char="•"/>
            </a:pPr>
            <a:r>
              <a:rPr lang="en-US" sz="2399">
                <a:solidFill>
                  <a:srgbClr val="000000"/>
                </a:solidFill>
                <a:latin typeface="Sniglet"/>
                <a:ea typeface="Sniglet"/>
                <a:cs typeface="Sniglet"/>
                <a:sym typeface="Sniglet"/>
              </a:rPr>
              <a:t>Flavio Antonio Henriquez Godoy</a:t>
            </a:r>
          </a:p>
          <a:p>
            <a:pPr marL="518158" lvl="1" indent="-259079" algn="l">
              <a:lnSpc>
                <a:spcPts val="3359"/>
              </a:lnSpc>
              <a:buFont typeface="Arial"/>
              <a:buChar char="•"/>
            </a:pPr>
            <a:r>
              <a:rPr lang="en-US" sz="2399">
                <a:solidFill>
                  <a:srgbClr val="000000"/>
                </a:solidFill>
                <a:latin typeface="Sniglet"/>
                <a:ea typeface="Sniglet"/>
                <a:cs typeface="Sniglet"/>
                <a:sym typeface="Sniglet"/>
              </a:rPr>
              <a:t>Martin Philip Gutiérrez Kuruz</a:t>
            </a:r>
          </a:p>
          <a:p>
            <a:pPr marL="518158" lvl="1" indent="-259079" algn="l">
              <a:lnSpc>
                <a:spcPts val="3359"/>
              </a:lnSpc>
              <a:buFont typeface="Arial"/>
              <a:buChar char="•"/>
            </a:pPr>
            <a:r>
              <a:rPr lang="en-US" sz="2399">
                <a:solidFill>
                  <a:srgbClr val="000000"/>
                </a:solidFill>
                <a:latin typeface="Sniglet"/>
                <a:ea typeface="Sniglet"/>
                <a:cs typeface="Sniglet"/>
                <a:sym typeface="Sniglet"/>
              </a:rPr>
              <a:t>Esteban Armando Maino Tellez</a:t>
            </a:r>
          </a:p>
          <a:p>
            <a:pPr marL="518158" lvl="1" indent="-259079" algn="l">
              <a:lnSpc>
                <a:spcPts val="3359"/>
              </a:lnSpc>
              <a:buFont typeface="Arial"/>
              <a:buChar char="•"/>
            </a:pPr>
            <a:r>
              <a:rPr lang="en-US" sz="2399">
                <a:solidFill>
                  <a:srgbClr val="000000"/>
                </a:solidFill>
                <a:latin typeface="Sniglet"/>
                <a:ea typeface="Sniglet"/>
                <a:cs typeface="Sniglet"/>
                <a:sym typeface="Sniglet"/>
              </a:rPr>
              <a:t>Pedro Ignacio Campos Saez</a:t>
            </a:r>
          </a:p>
          <a:p>
            <a:pPr algn="l">
              <a:lnSpc>
                <a:spcPts val="3359"/>
              </a:lnSpc>
            </a:pPr>
            <a:r>
              <a:rPr lang="en-US" sz="2399">
                <a:solidFill>
                  <a:srgbClr val="000000"/>
                </a:solidFill>
                <a:latin typeface="Sniglet"/>
                <a:ea typeface="Sniglet"/>
                <a:cs typeface="Sniglet"/>
                <a:sym typeface="Sniglet"/>
              </a:rPr>
              <a:t>Docente:</a:t>
            </a:r>
          </a:p>
          <a:p>
            <a:pPr marL="518158" lvl="1" indent="-259079" algn="l">
              <a:lnSpc>
                <a:spcPts val="3359"/>
              </a:lnSpc>
              <a:buFont typeface="Arial"/>
              <a:buChar char="•"/>
            </a:pPr>
            <a:r>
              <a:rPr lang="en-US" sz="2399">
                <a:solidFill>
                  <a:srgbClr val="000000"/>
                </a:solidFill>
                <a:latin typeface="Sniglet"/>
                <a:ea typeface="Sniglet"/>
                <a:cs typeface="Sniglet"/>
                <a:sym typeface="Sniglet"/>
              </a:rPr>
              <a:t>Aldo Alberto Martinez Órdenes</a:t>
            </a:r>
          </a:p>
          <a:p>
            <a:pPr algn="l">
              <a:lnSpc>
                <a:spcPts val="3359"/>
              </a:lnSpc>
            </a:pPr>
            <a:r>
              <a:rPr lang="en-US" sz="2399">
                <a:solidFill>
                  <a:srgbClr val="000000"/>
                </a:solidFill>
                <a:latin typeface="Sniglet"/>
                <a:ea typeface="Sniglet"/>
                <a:cs typeface="Sniglet"/>
                <a:sym typeface="Sniglet"/>
              </a:rPr>
              <a:t>Sección: </a:t>
            </a:r>
          </a:p>
          <a:p>
            <a:pPr marL="518158" lvl="1" indent="-259079" algn="l">
              <a:lnSpc>
                <a:spcPts val="3359"/>
              </a:lnSpc>
              <a:buFont typeface="Arial"/>
              <a:buChar char="•"/>
            </a:pPr>
            <a:r>
              <a:rPr lang="en-US" sz="2399">
                <a:solidFill>
                  <a:srgbClr val="000000"/>
                </a:solidFill>
                <a:latin typeface="Sniglet"/>
                <a:ea typeface="Sniglet"/>
                <a:cs typeface="Sniglet"/>
                <a:sym typeface="Sniglet"/>
              </a:rPr>
              <a:t>Capstone_800D</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0F6F5"/>
        </a:solidFill>
        <a:effectLst/>
      </p:bgPr>
    </p:bg>
    <p:spTree>
      <p:nvGrpSpPr>
        <p:cNvPr id="1" name=""/>
        <p:cNvGrpSpPr/>
        <p:nvPr/>
      </p:nvGrpSpPr>
      <p:grpSpPr>
        <a:xfrm>
          <a:off x="0" y="0"/>
          <a:ext cx="0" cy="0"/>
          <a:chOff x="0" y="0"/>
          <a:chExt cx="0" cy="0"/>
        </a:xfrm>
      </p:grpSpPr>
      <p:sp>
        <p:nvSpPr>
          <p:cNvPr id="2" name="AutoShape 2"/>
          <p:cNvSpPr/>
          <p:nvPr/>
        </p:nvSpPr>
        <p:spPr>
          <a:xfrm>
            <a:off x="11022941" y="1695733"/>
            <a:ext cx="5416583" cy="0"/>
          </a:xfrm>
          <a:prstGeom prst="line">
            <a:avLst/>
          </a:prstGeom>
          <a:ln w="28575" cap="flat">
            <a:solidFill>
              <a:srgbClr val="000000"/>
            </a:solidFill>
            <a:prstDash val="solid"/>
            <a:headEnd type="none" w="sm" len="sm"/>
            <a:tailEnd type="none" w="sm" len="sm"/>
          </a:ln>
        </p:spPr>
        <p:txBody>
          <a:bodyPr/>
          <a:lstStyle/>
          <a:p>
            <a:endParaRPr lang="es-CL"/>
          </a:p>
        </p:txBody>
      </p:sp>
      <p:sp>
        <p:nvSpPr>
          <p:cNvPr id="3" name="AutoShape 3"/>
          <p:cNvSpPr/>
          <p:nvPr/>
        </p:nvSpPr>
        <p:spPr>
          <a:xfrm>
            <a:off x="11022941" y="2382087"/>
            <a:ext cx="5416583" cy="0"/>
          </a:xfrm>
          <a:prstGeom prst="line">
            <a:avLst/>
          </a:prstGeom>
          <a:ln w="28575" cap="flat">
            <a:solidFill>
              <a:srgbClr val="000000"/>
            </a:solidFill>
            <a:prstDash val="solid"/>
            <a:headEnd type="none" w="sm" len="sm"/>
            <a:tailEnd type="none" w="sm" len="sm"/>
          </a:ln>
        </p:spPr>
        <p:txBody>
          <a:bodyPr/>
          <a:lstStyle/>
          <a:p>
            <a:endParaRPr lang="es-CL"/>
          </a:p>
        </p:txBody>
      </p:sp>
      <p:sp>
        <p:nvSpPr>
          <p:cNvPr id="4" name="AutoShape 4"/>
          <p:cNvSpPr/>
          <p:nvPr/>
        </p:nvSpPr>
        <p:spPr>
          <a:xfrm>
            <a:off x="11022941" y="3068442"/>
            <a:ext cx="5416583" cy="0"/>
          </a:xfrm>
          <a:prstGeom prst="line">
            <a:avLst/>
          </a:prstGeom>
          <a:ln w="28575" cap="flat">
            <a:solidFill>
              <a:srgbClr val="000000"/>
            </a:solidFill>
            <a:prstDash val="solid"/>
            <a:headEnd type="none" w="sm" len="sm"/>
            <a:tailEnd type="none" w="sm" len="sm"/>
          </a:ln>
        </p:spPr>
        <p:txBody>
          <a:bodyPr/>
          <a:lstStyle/>
          <a:p>
            <a:endParaRPr lang="es-CL"/>
          </a:p>
        </p:txBody>
      </p:sp>
      <p:sp>
        <p:nvSpPr>
          <p:cNvPr id="5" name="AutoShape 5"/>
          <p:cNvSpPr/>
          <p:nvPr/>
        </p:nvSpPr>
        <p:spPr>
          <a:xfrm>
            <a:off x="11022941" y="3754796"/>
            <a:ext cx="5416583" cy="0"/>
          </a:xfrm>
          <a:prstGeom prst="line">
            <a:avLst/>
          </a:prstGeom>
          <a:ln w="28575" cap="flat">
            <a:solidFill>
              <a:srgbClr val="000000"/>
            </a:solidFill>
            <a:prstDash val="solid"/>
            <a:headEnd type="none" w="sm" len="sm"/>
            <a:tailEnd type="none" w="sm" len="sm"/>
          </a:ln>
        </p:spPr>
        <p:txBody>
          <a:bodyPr/>
          <a:lstStyle/>
          <a:p>
            <a:endParaRPr lang="es-CL"/>
          </a:p>
        </p:txBody>
      </p:sp>
      <p:sp>
        <p:nvSpPr>
          <p:cNvPr id="6" name="AutoShape 6"/>
          <p:cNvSpPr/>
          <p:nvPr/>
        </p:nvSpPr>
        <p:spPr>
          <a:xfrm>
            <a:off x="11022941" y="4441151"/>
            <a:ext cx="5416583" cy="0"/>
          </a:xfrm>
          <a:prstGeom prst="line">
            <a:avLst/>
          </a:prstGeom>
          <a:ln w="28575" cap="flat">
            <a:solidFill>
              <a:srgbClr val="000000"/>
            </a:solidFill>
            <a:prstDash val="solid"/>
            <a:headEnd type="none" w="sm" len="sm"/>
            <a:tailEnd type="none" w="sm" len="sm"/>
          </a:ln>
        </p:spPr>
        <p:txBody>
          <a:bodyPr/>
          <a:lstStyle/>
          <a:p>
            <a:endParaRPr lang="es-CL"/>
          </a:p>
        </p:txBody>
      </p:sp>
      <p:sp>
        <p:nvSpPr>
          <p:cNvPr id="7" name="AutoShape 7"/>
          <p:cNvSpPr/>
          <p:nvPr/>
        </p:nvSpPr>
        <p:spPr>
          <a:xfrm flipV="1">
            <a:off x="11022941" y="1009013"/>
            <a:ext cx="5416583" cy="0"/>
          </a:xfrm>
          <a:prstGeom prst="line">
            <a:avLst/>
          </a:prstGeom>
          <a:ln w="28575" cap="flat">
            <a:solidFill>
              <a:srgbClr val="000000"/>
            </a:solidFill>
            <a:prstDash val="solid"/>
            <a:headEnd type="none" w="sm" len="sm"/>
            <a:tailEnd type="none" w="sm" len="sm"/>
          </a:ln>
        </p:spPr>
        <p:txBody>
          <a:bodyPr/>
          <a:lstStyle/>
          <a:p>
            <a:endParaRPr lang="es-CL"/>
          </a:p>
        </p:txBody>
      </p:sp>
      <p:sp>
        <p:nvSpPr>
          <p:cNvPr id="8" name="TextBox 8"/>
          <p:cNvSpPr txBox="1"/>
          <p:nvPr/>
        </p:nvSpPr>
        <p:spPr>
          <a:xfrm>
            <a:off x="11022941" y="1125550"/>
            <a:ext cx="5658194" cy="413573"/>
          </a:xfrm>
          <a:prstGeom prst="rect">
            <a:avLst/>
          </a:prstGeom>
        </p:spPr>
        <p:txBody>
          <a:bodyPr lIns="0" tIns="0" rIns="0" bIns="0" rtlCol="0" anchor="t">
            <a:spAutoFit/>
          </a:bodyPr>
          <a:lstStyle/>
          <a:p>
            <a:pPr algn="l">
              <a:lnSpc>
                <a:spcPts val="3454"/>
              </a:lnSpc>
              <a:spcBef>
                <a:spcPct val="0"/>
              </a:spcBef>
            </a:pPr>
            <a:r>
              <a:rPr lang="en-US" sz="2467" b="1">
                <a:solidFill>
                  <a:srgbClr val="05061C"/>
                </a:solidFill>
                <a:latin typeface="Canva Sans Bold"/>
                <a:ea typeface="Canva Sans Bold"/>
                <a:cs typeface="Canva Sans Bold"/>
                <a:sym typeface="Canva Sans Bold"/>
              </a:rPr>
              <a:t>01. Introducción</a:t>
            </a:r>
          </a:p>
        </p:txBody>
      </p:sp>
      <p:sp>
        <p:nvSpPr>
          <p:cNvPr id="9" name="TextBox 9"/>
          <p:cNvSpPr txBox="1"/>
          <p:nvPr/>
        </p:nvSpPr>
        <p:spPr>
          <a:xfrm>
            <a:off x="11022941" y="1807688"/>
            <a:ext cx="5658194" cy="413573"/>
          </a:xfrm>
          <a:prstGeom prst="rect">
            <a:avLst/>
          </a:prstGeom>
        </p:spPr>
        <p:txBody>
          <a:bodyPr lIns="0" tIns="0" rIns="0" bIns="0" rtlCol="0" anchor="t">
            <a:spAutoFit/>
          </a:bodyPr>
          <a:lstStyle/>
          <a:p>
            <a:pPr algn="l">
              <a:lnSpc>
                <a:spcPts val="3454"/>
              </a:lnSpc>
              <a:spcBef>
                <a:spcPct val="0"/>
              </a:spcBef>
            </a:pPr>
            <a:r>
              <a:rPr lang="en-US" sz="2467" b="1">
                <a:solidFill>
                  <a:srgbClr val="05061C"/>
                </a:solidFill>
                <a:latin typeface="Canva Sans Bold"/>
                <a:ea typeface="Canva Sans Bold"/>
                <a:cs typeface="Canva Sans Bold"/>
                <a:sym typeface="Canva Sans Bold"/>
              </a:rPr>
              <a:t>02. Contexto</a:t>
            </a:r>
          </a:p>
        </p:txBody>
      </p:sp>
      <p:sp>
        <p:nvSpPr>
          <p:cNvPr id="10" name="TextBox 10"/>
          <p:cNvSpPr txBox="1"/>
          <p:nvPr/>
        </p:nvSpPr>
        <p:spPr>
          <a:xfrm>
            <a:off x="11022941" y="2502322"/>
            <a:ext cx="5658194" cy="413573"/>
          </a:xfrm>
          <a:prstGeom prst="rect">
            <a:avLst/>
          </a:prstGeom>
        </p:spPr>
        <p:txBody>
          <a:bodyPr lIns="0" tIns="0" rIns="0" bIns="0" rtlCol="0" anchor="t">
            <a:spAutoFit/>
          </a:bodyPr>
          <a:lstStyle/>
          <a:p>
            <a:pPr algn="l">
              <a:lnSpc>
                <a:spcPts val="3454"/>
              </a:lnSpc>
              <a:spcBef>
                <a:spcPct val="0"/>
              </a:spcBef>
            </a:pPr>
            <a:r>
              <a:rPr lang="en-US" sz="2467" b="1">
                <a:solidFill>
                  <a:srgbClr val="05061C"/>
                </a:solidFill>
                <a:latin typeface="Canva Sans Bold"/>
                <a:ea typeface="Canva Sans Bold"/>
                <a:cs typeface="Canva Sans Bold"/>
                <a:sym typeface="Canva Sans Bold"/>
              </a:rPr>
              <a:t>03. Problemática</a:t>
            </a:r>
          </a:p>
        </p:txBody>
      </p:sp>
      <p:sp>
        <p:nvSpPr>
          <p:cNvPr id="11" name="TextBox 11"/>
          <p:cNvSpPr txBox="1"/>
          <p:nvPr/>
        </p:nvSpPr>
        <p:spPr>
          <a:xfrm>
            <a:off x="11022941" y="3187038"/>
            <a:ext cx="5658194" cy="413573"/>
          </a:xfrm>
          <a:prstGeom prst="rect">
            <a:avLst/>
          </a:prstGeom>
        </p:spPr>
        <p:txBody>
          <a:bodyPr lIns="0" tIns="0" rIns="0" bIns="0" rtlCol="0" anchor="t">
            <a:spAutoFit/>
          </a:bodyPr>
          <a:lstStyle/>
          <a:p>
            <a:pPr algn="l">
              <a:lnSpc>
                <a:spcPts val="3454"/>
              </a:lnSpc>
              <a:spcBef>
                <a:spcPct val="0"/>
              </a:spcBef>
            </a:pPr>
            <a:r>
              <a:rPr lang="en-US" sz="2467" b="1">
                <a:solidFill>
                  <a:srgbClr val="05061C"/>
                </a:solidFill>
                <a:latin typeface="Canva Sans Bold"/>
                <a:ea typeface="Canva Sans Bold"/>
                <a:cs typeface="Canva Sans Bold"/>
                <a:sym typeface="Canva Sans Bold"/>
              </a:rPr>
              <a:t>04. Solución</a:t>
            </a:r>
          </a:p>
        </p:txBody>
      </p:sp>
      <p:sp>
        <p:nvSpPr>
          <p:cNvPr id="12" name="TextBox 12"/>
          <p:cNvSpPr txBox="1"/>
          <p:nvPr/>
        </p:nvSpPr>
        <p:spPr>
          <a:xfrm>
            <a:off x="11022941" y="3873392"/>
            <a:ext cx="5658194" cy="413573"/>
          </a:xfrm>
          <a:prstGeom prst="rect">
            <a:avLst/>
          </a:prstGeom>
        </p:spPr>
        <p:txBody>
          <a:bodyPr lIns="0" tIns="0" rIns="0" bIns="0" rtlCol="0" anchor="t">
            <a:spAutoFit/>
          </a:bodyPr>
          <a:lstStyle/>
          <a:p>
            <a:pPr algn="l">
              <a:lnSpc>
                <a:spcPts val="3454"/>
              </a:lnSpc>
              <a:spcBef>
                <a:spcPct val="0"/>
              </a:spcBef>
            </a:pPr>
            <a:r>
              <a:rPr lang="en-US" sz="2467" b="1">
                <a:solidFill>
                  <a:srgbClr val="05061C"/>
                </a:solidFill>
                <a:latin typeface="Canva Sans Bold"/>
                <a:ea typeface="Canva Sans Bold"/>
                <a:cs typeface="Canva Sans Bold"/>
                <a:sym typeface="Canva Sans Bold"/>
              </a:rPr>
              <a:t>05. Metodología / Plan / Roles</a:t>
            </a:r>
          </a:p>
        </p:txBody>
      </p:sp>
      <p:sp>
        <p:nvSpPr>
          <p:cNvPr id="13" name="AutoShape 13"/>
          <p:cNvSpPr/>
          <p:nvPr/>
        </p:nvSpPr>
        <p:spPr>
          <a:xfrm>
            <a:off x="11022941" y="5161761"/>
            <a:ext cx="5416583" cy="0"/>
          </a:xfrm>
          <a:prstGeom prst="line">
            <a:avLst/>
          </a:prstGeom>
          <a:ln w="28575" cap="flat">
            <a:solidFill>
              <a:srgbClr val="000000"/>
            </a:solidFill>
            <a:prstDash val="solid"/>
            <a:headEnd type="none" w="sm" len="sm"/>
            <a:tailEnd type="none" w="sm" len="sm"/>
          </a:ln>
        </p:spPr>
        <p:txBody>
          <a:bodyPr/>
          <a:lstStyle/>
          <a:p>
            <a:endParaRPr lang="es-CL"/>
          </a:p>
        </p:txBody>
      </p:sp>
      <p:sp>
        <p:nvSpPr>
          <p:cNvPr id="14" name="AutoShape 14"/>
          <p:cNvSpPr/>
          <p:nvPr/>
        </p:nvSpPr>
        <p:spPr>
          <a:xfrm>
            <a:off x="11022941" y="5848115"/>
            <a:ext cx="5416583" cy="0"/>
          </a:xfrm>
          <a:prstGeom prst="line">
            <a:avLst/>
          </a:prstGeom>
          <a:ln w="28575" cap="flat">
            <a:solidFill>
              <a:srgbClr val="000000"/>
            </a:solidFill>
            <a:prstDash val="solid"/>
            <a:headEnd type="none" w="sm" len="sm"/>
            <a:tailEnd type="none" w="sm" len="sm"/>
          </a:ln>
        </p:spPr>
        <p:txBody>
          <a:bodyPr/>
          <a:lstStyle/>
          <a:p>
            <a:endParaRPr lang="es-CL"/>
          </a:p>
        </p:txBody>
      </p:sp>
      <p:sp>
        <p:nvSpPr>
          <p:cNvPr id="15" name="AutoShape 15"/>
          <p:cNvSpPr/>
          <p:nvPr/>
        </p:nvSpPr>
        <p:spPr>
          <a:xfrm>
            <a:off x="11022941" y="6534470"/>
            <a:ext cx="5416583" cy="0"/>
          </a:xfrm>
          <a:prstGeom prst="line">
            <a:avLst/>
          </a:prstGeom>
          <a:ln w="28575" cap="flat">
            <a:solidFill>
              <a:srgbClr val="000000"/>
            </a:solidFill>
            <a:prstDash val="solid"/>
            <a:headEnd type="none" w="sm" len="sm"/>
            <a:tailEnd type="none" w="sm" len="sm"/>
          </a:ln>
        </p:spPr>
        <p:txBody>
          <a:bodyPr/>
          <a:lstStyle/>
          <a:p>
            <a:endParaRPr lang="es-CL"/>
          </a:p>
        </p:txBody>
      </p:sp>
      <p:sp>
        <p:nvSpPr>
          <p:cNvPr id="16" name="TextBox 16"/>
          <p:cNvSpPr txBox="1"/>
          <p:nvPr/>
        </p:nvSpPr>
        <p:spPr>
          <a:xfrm>
            <a:off x="11022941" y="4595642"/>
            <a:ext cx="5658194" cy="413573"/>
          </a:xfrm>
          <a:prstGeom prst="rect">
            <a:avLst/>
          </a:prstGeom>
        </p:spPr>
        <p:txBody>
          <a:bodyPr lIns="0" tIns="0" rIns="0" bIns="0" rtlCol="0" anchor="t">
            <a:spAutoFit/>
          </a:bodyPr>
          <a:lstStyle/>
          <a:p>
            <a:pPr algn="l">
              <a:lnSpc>
                <a:spcPts val="3454"/>
              </a:lnSpc>
              <a:spcBef>
                <a:spcPct val="0"/>
              </a:spcBef>
            </a:pPr>
            <a:r>
              <a:rPr lang="en-US" sz="2467" b="1">
                <a:solidFill>
                  <a:srgbClr val="05061C"/>
                </a:solidFill>
                <a:latin typeface="Canva Sans Bold"/>
                <a:ea typeface="Canva Sans Bold"/>
                <a:cs typeface="Canva Sans Bold"/>
                <a:sym typeface="Canva Sans Bold"/>
              </a:rPr>
              <a:t>06. Mapa Tecnológico / Arquitectura</a:t>
            </a:r>
          </a:p>
        </p:txBody>
      </p:sp>
      <p:sp>
        <p:nvSpPr>
          <p:cNvPr id="17" name="TextBox 17"/>
          <p:cNvSpPr txBox="1"/>
          <p:nvPr/>
        </p:nvSpPr>
        <p:spPr>
          <a:xfrm>
            <a:off x="11022941" y="5280357"/>
            <a:ext cx="5658194" cy="413573"/>
          </a:xfrm>
          <a:prstGeom prst="rect">
            <a:avLst/>
          </a:prstGeom>
        </p:spPr>
        <p:txBody>
          <a:bodyPr lIns="0" tIns="0" rIns="0" bIns="0" rtlCol="0" anchor="t">
            <a:spAutoFit/>
          </a:bodyPr>
          <a:lstStyle/>
          <a:p>
            <a:pPr algn="l">
              <a:lnSpc>
                <a:spcPts val="3454"/>
              </a:lnSpc>
              <a:spcBef>
                <a:spcPct val="0"/>
              </a:spcBef>
            </a:pPr>
            <a:r>
              <a:rPr lang="en-US" sz="2467" b="1">
                <a:solidFill>
                  <a:srgbClr val="05061C"/>
                </a:solidFill>
                <a:latin typeface="Canva Sans Bold"/>
                <a:ea typeface="Canva Sans Bold"/>
                <a:cs typeface="Canva Sans Bold"/>
                <a:sym typeface="Canva Sans Bold"/>
              </a:rPr>
              <a:t>07. Competencias</a:t>
            </a:r>
          </a:p>
        </p:txBody>
      </p:sp>
      <p:sp>
        <p:nvSpPr>
          <p:cNvPr id="18" name="TextBox 18"/>
          <p:cNvSpPr txBox="1"/>
          <p:nvPr/>
        </p:nvSpPr>
        <p:spPr>
          <a:xfrm>
            <a:off x="11022941" y="5966711"/>
            <a:ext cx="5658194" cy="413573"/>
          </a:xfrm>
          <a:prstGeom prst="rect">
            <a:avLst/>
          </a:prstGeom>
        </p:spPr>
        <p:txBody>
          <a:bodyPr lIns="0" tIns="0" rIns="0" bIns="0" rtlCol="0" anchor="t">
            <a:spAutoFit/>
          </a:bodyPr>
          <a:lstStyle/>
          <a:p>
            <a:pPr algn="l">
              <a:lnSpc>
                <a:spcPts val="3454"/>
              </a:lnSpc>
              <a:spcBef>
                <a:spcPct val="0"/>
              </a:spcBef>
            </a:pPr>
            <a:r>
              <a:rPr lang="en-US" sz="2467" b="1">
                <a:solidFill>
                  <a:srgbClr val="05061C"/>
                </a:solidFill>
                <a:latin typeface="Canva Sans Bold"/>
                <a:ea typeface="Canva Sans Bold"/>
                <a:cs typeface="Canva Sans Bold"/>
                <a:sym typeface="Canva Sans Bold"/>
              </a:rPr>
              <a:t>08. Riesgos</a:t>
            </a:r>
          </a:p>
        </p:txBody>
      </p:sp>
      <p:sp>
        <p:nvSpPr>
          <p:cNvPr id="19" name="AutoShape 19"/>
          <p:cNvSpPr/>
          <p:nvPr/>
        </p:nvSpPr>
        <p:spPr>
          <a:xfrm>
            <a:off x="11022941" y="7220349"/>
            <a:ext cx="5416583" cy="0"/>
          </a:xfrm>
          <a:prstGeom prst="line">
            <a:avLst/>
          </a:prstGeom>
          <a:ln w="28575" cap="flat">
            <a:solidFill>
              <a:srgbClr val="000000"/>
            </a:solidFill>
            <a:prstDash val="solid"/>
            <a:headEnd type="none" w="sm" len="sm"/>
            <a:tailEnd type="none" w="sm" len="sm"/>
          </a:ln>
        </p:spPr>
        <p:txBody>
          <a:bodyPr/>
          <a:lstStyle/>
          <a:p>
            <a:endParaRPr lang="es-CL"/>
          </a:p>
        </p:txBody>
      </p:sp>
      <p:sp>
        <p:nvSpPr>
          <p:cNvPr id="20" name="AutoShape 20"/>
          <p:cNvSpPr/>
          <p:nvPr/>
        </p:nvSpPr>
        <p:spPr>
          <a:xfrm>
            <a:off x="11022941" y="7906229"/>
            <a:ext cx="5416583" cy="0"/>
          </a:xfrm>
          <a:prstGeom prst="line">
            <a:avLst/>
          </a:prstGeom>
          <a:ln w="28575" cap="flat">
            <a:solidFill>
              <a:srgbClr val="000000"/>
            </a:solidFill>
            <a:prstDash val="solid"/>
            <a:headEnd type="none" w="sm" len="sm"/>
            <a:tailEnd type="none" w="sm" len="sm"/>
          </a:ln>
        </p:spPr>
        <p:txBody>
          <a:bodyPr/>
          <a:lstStyle/>
          <a:p>
            <a:endParaRPr lang="es-CL"/>
          </a:p>
        </p:txBody>
      </p:sp>
      <p:sp>
        <p:nvSpPr>
          <p:cNvPr id="21" name="TextBox 21"/>
          <p:cNvSpPr txBox="1"/>
          <p:nvPr/>
        </p:nvSpPr>
        <p:spPr>
          <a:xfrm>
            <a:off x="11022941" y="6645650"/>
            <a:ext cx="5658194" cy="413573"/>
          </a:xfrm>
          <a:prstGeom prst="rect">
            <a:avLst/>
          </a:prstGeom>
        </p:spPr>
        <p:txBody>
          <a:bodyPr lIns="0" tIns="0" rIns="0" bIns="0" rtlCol="0" anchor="t">
            <a:spAutoFit/>
          </a:bodyPr>
          <a:lstStyle/>
          <a:p>
            <a:pPr algn="l">
              <a:lnSpc>
                <a:spcPts val="3454"/>
              </a:lnSpc>
              <a:spcBef>
                <a:spcPct val="0"/>
              </a:spcBef>
            </a:pPr>
            <a:r>
              <a:rPr lang="en-US" sz="2467" b="1">
                <a:solidFill>
                  <a:srgbClr val="05061C"/>
                </a:solidFill>
                <a:latin typeface="Canva Sans Bold"/>
                <a:ea typeface="Canva Sans Bold"/>
                <a:cs typeface="Canva Sans Bold"/>
                <a:sym typeface="Canva Sans Bold"/>
              </a:rPr>
              <a:t>09. Seguridad</a:t>
            </a:r>
          </a:p>
        </p:txBody>
      </p:sp>
      <p:sp>
        <p:nvSpPr>
          <p:cNvPr id="22" name="TextBox 22"/>
          <p:cNvSpPr txBox="1"/>
          <p:nvPr/>
        </p:nvSpPr>
        <p:spPr>
          <a:xfrm>
            <a:off x="11022941" y="8057754"/>
            <a:ext cx="5658194" cy="413573"/>
          </a:xfrm>
          <a:prstGeom prst="rect">
            <a:avLst/>
          </a:prstGeom>
        </p:spPr>
        <p:txBody>
          <a:bodyPr lIns="0" tIns="0" rIns="0" bIns="0" rtlCol="0" anchor="t">
            <a:spAutoFit/>
          </a:bodyPr>
          <a:lstStyle/>
          <a:p>
            <a:pPr algn="l">
              <a:lnSpc>
                <a:spcPts val="3454"/>
              </a:lnSpc>
              <a:spcBef>
                <a:spcPct val="0"/>
              </a:spcBef>
            </a:pPr>
            <a:r>
              <a:rPr lang="en-US" sz="2467" b="1">
                <a:solidFill>
                  <a:srgbClr val="05061C"/>
                </a:solidFill>
                <a:latin typeface="Canva Sans Bold"/>
                <a:ea typeface="Canva Sans Bold"/>
                <a:cs typeface="Canva Sans Bold"/>
                <a:sym typeface="Canva Sans Bold"/>
              </a:rPr>
              <a:t>11. Modelo de negocio</a:t>
            </a:r>
          </a:p>
        </p:txBody>
      </p:sp>
      <p:sp>
        <p:nvSpPr>
          <p:cNvPr id="23" name="AutoShape 23"/>
          <p:cNvSpPr/>
          <p:nvPr/>
        </p:nvSpPr>
        <p:spPr>
          <a:xfrm>
            <a:off x="11022941" y="8592108"/>
            <a:ext cx="5416583" cy="0"/>
          </a:xfrm>
          <a:prstGeom prst="line">
            <a:avLst/>
          </a:prstGeom>
          <a:ln w="28575" cap="flat">
            <a:solidFill>
              <a:srgbClr val="000000"/>
            </a:solidFill>
            <a:prstDash val="solid"/>
            <a:headEnd type="none" w="sm" len="sm"/>
            <a:tailEnd type="none" w="sm" len="sm"/>
          </a:ln>
        </p:spPr>
        <p:txBody>
          <a:bodyPr/>
          <a:lstStyle/>
          <a:p>
            <a:endParaRPr lang="es-CL"/>
          </a:p>
        </p:txBody>
      </p:sp>
      <p:sp>
        <p:nvSpPr>
          <p:cNvPr id="24" name="TextBox 24"/>
          <p:cNvSpPr txBox="1"/>
          <p:nvPr/>
        </p:nvSpPr>
        <p:spPr>
          <a:xfrm>
            <a:off x="11022941" y="7348802"/>
            <a:ext cx="5658194" cy="413573"/>
          </a:xfrm>
          <a:prstGeom prst="rect">
            <a:avLst/>
          </a:prstGeom>
        </p:spPr>
        <p:txBody>
          <a:bodyPr lIns="0" tIns="0" rIns="0" bIns="0" rtlCol="0" anchor="t">
            <a:spAutoFit/>
          </a:bodyPr>
          <a:lstStyle/>
          <a:p>
            <a:pPr algn="l">
              <a:lnSpc>
                <a:spcPts val="3454"/>
              </a:lnSpc>
              <a:spcBef>
                <a:spcPct val="0"/>
              </a:spcBef>
            </a:pPr>
            <a:r>
              <a:rPr lang="en-US" sz="2467" b="1">
                <a:solidFill>
                  <a:srgbClr val="05061C"/>
                </a:solidFill>
                <a:latin typeface="Canva Sans Bold"/>
                <a:ea typeface="Canva Sans Bold"/>
                <a:cs typeface="Canva Sans Bold"/>
                <a:sym typeface="Canva Sans Bold"/>
              </a:rPr>
              <a:t>10.Despliegue</a:t>
            </a:r>
          </a:p>
        </p:txBody>
      </p:sp>
      <p:sp>
        <p:nvSpPr>
          <p:cNvPr id="25" name="AutoShape 25"/>
          <p:cNvSpPr/>
          <p:nvPr/>
        </p:nvSpPr>
        <p:spPr>
          <a:xfrm>
            <a:off x="11022941" y="9277987"/>
            <a:ext cx="5416583" cy="0"/>
          </a:xfrm>
          <a:prstGeom prst="line">
            <a:avLst/>
          </a:prstGeom>
          <a:ln w="28575" cap="flat">
            <a:solidFill>
              <a:srgbClr val="000000"/>
            </a:solidFill>
            <a:prstDash val="solid"/>
            <a:headEnd type="none" w="sm" len="sm"/>
            <a:tailEnd type="none" w="sm" len="sm"/>
          </a:ln>
        </p:spPr>
        <p:txBody>
          <a:bodyPr/>
          <a:lstStyle/>
          <a:p>
            <a:endParaRPr lang="es-CL"/>
          </a:p>
        </p:txBody>
      </p:sp>
      <p:sp>
        <p:nvSpPr>
          <p:cNvPr id="26" name="TextBox 26"/>
          <p:cNvSpPr txBox="1"/>
          <p:nvPr/>
        </p:nvSpPr>
        <p:spPr>
          <a:xfrm>
            <a:off x="11022941" y="8695218"/>
            <a:ext cx="5658194" cy="413573"/>
          </a:xfrm>
          <a:prstGeom prst="rect">
            <a:avLst/>
          </a:prstGeom>
        </p:spPr>
        <p:txBody>
          <a:bodyPr lIns="0" tIns="0" rIns="0" bIns="0" rtlCol="0" anchor="t">
            <a:spAutoFit/>
          </a:bodyPr>
          <a:lstStyle/>
          <a:p>
            <a:pPr algn="l">
              <a:lnSpc>
                <a:spcPts val="3454"/>
              </a:lnSpc>
              <a:spcBef>
                <a:spcPct val="0"/>
              </a:spcBef>
            </a:pPr>
            <a:r>
              <a:rPr lang="en-US" sz="2467" b="1">
                <a:solidFill>
                  <a:srgbClr val="05061C"/>
                </a:solidFill>
                <a:latin typeface="Canva Sans Bold"/>
                <a:ea typeface="Canva Sans Bold"/>
                <a:cs typeface="Canva Sans Bold"/>
                <a:sym typeface="Canva Sans Bold"/>
              </a:rPr>
              <a:t>12. Conclusión</a:t>
            </a:r>
          </a:p>
        </p:txBody>
      </p:sp>
      <p:grpSp>
        <p:nvGrpSpPr>
          <p:cNvPr id="27" name="Group 27"/>
          <p:cNvGrpSpPr/>
          <p:nvPr/>
        </p:nvGrpSpPr>
        <p:grpSpPr>
          <a:xfrm rot="5400000">
            <a:off x="-1675860" y="-275921"/>
            <a:ext cx="12322360" cy="9139751"/>
            <a:chOff x="0" y="0"/>
            <a:chExt cx="3245395" cy="2407177"/>
          </a:xfrm>
        </p:grpSpPr>
        <p:sp>
          <p:nvSpPr>
            <p:cNvPr id="28" name="Freeform 28"/>
            <p:cNvSpPr/>
            <p:nvPr/>
          </p:nvSpPr>
          <p:spPr>
            <a:xfrm>
              <a:off x="0" y="0"/>
              <a:ext cx="3245395" cy="2407177"/>
            </a:xfrm>
            <a:custGeom>
              <a:avLst/>
              <a:gdLst/>
              <a:ahLst/>
              <a:cxnLst/>
              <a:rect l="l" t="t" r="r" b="b"/>
              <a:pathLst>
                <a:path w="3245395" h="2407177">
                  <a:moveTo>
                    <a:pt x="0" y="0"/>
                  </a:moveTo>
                  <a:lnTo>
                    <a:pt x="3245395" y="0"/>
                  </a:lnTo>
                  <a:lnTo>
                    <a:pt x="3245395" y="2407177"/>
                  </a:lnTo>
                  <a:lnTo>
                    <a:pt x="0" y="2407177"/>
                  </a:lnTo>
                  <a:close/>
                </a:path>
              </a:pathLst>
            </a:custGeom>
            <a:solidFill>
              <a:srgbClr val="4E767D"/>
            </a:solidFill>
          </p:spPr>
          <p:txBody>
            <a:bodyPr/>
            <a:lstStyle/>
            <a:p>
              <a:endParaRPr lang="es-CL"/>
            </a:p>
          </p:txBody>
        </p:sp>
        <p:sp>
          <p:nvSpPr>
            <p:cNvPr id="29" name="TextBox 29"/>
            <p:cNvSpPr txBox="1"/>
            <p:nvPr/>
          </p:nvSpPr>
          <p:spPr>
            <a:xfrm>
              <a:off x="0" y="133350"/>
              <a:ext cx="3245395" cy="2273827"/>
            </a:xfrm>
            <a:prstGeom prst="rect">
              <a:avLst/>
            </a:prstGeom>
          </p:spPr>
          <p:txBody>
            <a:bodyPr lIns="50800" tIns="50800" rIns="50800" bIns="50800" rtlCol="0" anchor="ctr"/>
            <a:lstStyle/>
            <a:p>
              <a:pPr marL="0" lvl="0" indent="0" algn="just">
                <a:lnSpc>
                  <a:spcPts val="15488"/>
                </a:lnSpc>
                <a:spcBef>
                  <a:spcPct val="0"/>
                </a:spcBef>
              </a:pPr>
              <a:endParaRPr/>
            </a:p>
          </p:txBody>
        </p:sp>
      </p:grpSp>
      <p:sp>
        <p:nvSpPr>
          <p:cNvPr id="30" name="TextBox 30"/>
          <p:cNvSpPr txBox="1"/>
          <p:nvPr/>
        </p:nvSpPr>
        <p:spPr>
          <a:xfrm>
            <a:off x="975853" y="4381321"/>
            <a:ext cx="7018933" cy="2007622"/>
          </a:xfrm>
          <a:prstGeom prst="rect">
            <a:avLst/>
          </a:prstGeom>
        </p:spPr>
        <p:txBody>
          <a:bodyPr lIns="0" tIns="0" rIns="0" bIns="0" rtlCol="0" anchor="t">
            <a:spAutoFit/>
          </a:bodyPr>
          <a:lstStyle/>
          <a:p>
            <a:pPr marL="0" lvl="0" indent="0" algn="just">
              <a:lnSpc>
                <a:spcPts val="15488"/>
              </a:lnSpc>
              <a:spcBef>
                <a:spcPct val="0"/>
              </a:spcBef>
            </a:pPr>
            <a:r>
              <a:rPr lang="en-US" sz="14080" spc="-1182">
                <a:solidFill>
                  <a:srgbClr val="FBFEFE"/>
                </a:solidFill>
                <a:latin typeface="Mokoto"/>
                <a:ea typeface="Mokoto"/>
                <a:cs typeface="Mokoto"/>
                <a:sym typeface="Mokoto"/>
              </a:rPr>
              <a:t>ÍNDICE</a:t>
            </a:r>
          </a:p>
        </p:txBody>
      </p:sp>
    </p:spTree>
  </p:cSld>
  <p:clrMapOvr>
    <a:masterClrMapping/>
  </p:clrMapOvr>
  <p:transition spd="slow">
    <p:cover/>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0F6F5"/>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8000" cy="2604951"/>
            <a:chOff x="0" y="0"/>
            <a:chExt cx="4816593" cy="686078"/>
          </a:xfrm>
        </p:grpSpPr>
        <p:sp>
          <p:nvSpPr>
            <p:cNvPr id="3" name="Freeform 3"/>
            <p:cNvSpPr/>
            <p:nvPr/>
          </p:nvSpPr>
          <p:spPr>
            <a:xfrm>
              <a:off x="0" y="0"/>
              <a:ext cx="4816592" cy="686078"/>
            </a:xfrm>
            <a:custGeom>
              <a:avLst/>
              <a:gdLst/>
              <a:ahLst/>
              <a:cxnLst/>
              <a:rect l="l" t="t" r="r" b="b"/>
              <a:pathLst>
                <a:path w="4816592" h="686078">
                  <a:moveTo>
                    <a:pt x="0" y="0"/>
                  </a:moveTo>
                  <a:lnTo>
                    <a:pt x="4816592" y="0"/>
                  </a:lnTo>
                  <a:lnTo>
                    <a:pt x="4816592" y="686078"/>
                  </a:lnTo>
                  <a:lnTo>
                    <a:pt x="0" y="686078"/>
                  </a:lnTo>
                  <a:close/>
                </a:path>
              </a:pathLst>
            </a:custGeom>
            <a:solidFill>
              <a:srgbClr val="4E767D"/>
            </a:solidFill>
          </p:spPr>
          <p:txBody>
            <a:bodyPr/>
            <a:lstStyle/>
            <a:p>
              <a:endParaRPr lang="es-CL"/>
            </a:p>
          </p:txBody>
        </p:sp>
        <p:sp>
          <p:nvSpPr>
            <p:cNvPr id="4" name="TextBox 4"/>
            <p:cNvSpPr txBox="1"/>
            <p:nvPr/>
          </p:nvSpPr>
          <p:spPr>
            <a:xfrm>
              <a:off x="0" y="-47625"/>
              <a:ext cx="4816593" cy="733703"/>
            </a:xfrm>
            <a:prstGeom prst="rect">
              <a:avLst/>
            </a:prstGeom>
          </p:spPr>
          <p:txBody>
            <a:bodyPr lIns="50800" tIns="50800" rIns="50800" bIns="50800" rtlCol="0" anchor="ctr"/>
            <a:lstStyle/>
            <a:p>
              <a:pPr algn="ctr">
                <a:lnSpc>
                  <a:spcPts val="3174"/>
                </a:lnSpc>
              </a:pPr>
              <a:endParaRPr/>
            </a:p>
          </p:txBody>
        </p:sp>
      </p:grpSp>
      <p:sp>
        <p:nvSpPr>
          <p:cNvPr id="5" name="Freeform 5"/>
          <p:cNvSpPr/>
          <p:nvPr/>
        </p:nvSpPr>
        <p:spPr>
          <a:xfrm flipH="1">
            <a:off x="-6206997" y="-179193"/>
            <a:ext cx="9751946" cy="2563471"/>
          </a:xfrm>
          <a:custGeom>
            <a:avLst/>
            <a:gdLst/>
            <a:ahLst/>
            <a:cxnLst/>
            <a:rect l="l" t="t" r="r" b="b"/>
            <a:pathLst>
              <a:path w="9751946" h="2563471">
                <a:moveTo>
                  <a:pt x="9751946" y="0"/>
                </a:moveTo>
                <a:lnTo>
                  <a:pt x="0" y="0"/>
                </a:lnTo>
                <a:lnTo>
                  <a:pt x="0" y="2563471"/>
                </a:lnTo>
                <a:lnTo>
                  <a:pt x="9751946" y="2563471"/>
                </a:lnTo>
                <a:lnTo>
                  <a:pt x="9751946" y="0"/>
                </a:lnTo>
                <a:close/>
              </a:path>
            </a:pathLst>
          </a:custGeom>
          <a:blipFill>
            <a:blip>
              <a:alphaModFix amt="38000"/>
              <a:extLst>
                <a:ext uri="{96DAC541-7B7A-43D3-8B79-37D633B846F1}">
                  <asvg:svgBlip xmlns:asvg="http://schemas.microsoft.com/office/drawing/2016/SVG/main" r:embed="rId2"/>
                </a:ext>
              </a:extLst>
            </a:blip>
            <a:stretch>
              <a:fillRect/>
            </a:stretch>
          </a:blipFill>
        </p:spPr>
        <p:txBody>
          <a:bodyPr/>
          <a:lstStyle/>
          <a:p>
            <a:endParaRPr lang="es-CL"/>
          </a:p>
        </p:txBody>
      </p:sp>
      <p:sp>
        <p:nvSpPr>
          <p:cNvPr id="6" name="Freeform 6"/>
          <p:cNvSpPr/>
          <p:nvPr/>
        </p:nvSpPr>
        <p:spPr>
          <a:xfrm flipH="1">
            <a:off x="14994293" y="8520479"/>
            <a:ext cx="9751946" cy="2563471"/>
          </a:xfrm>
          <a:custGeom>
            <a:avLst/>
            <a:gdLst/>
            <a:ahLst/>
            <a:cxnLst/>
            <a:rect l="l" t="t" r="r" b="b"/>
            <a:pathLst>
              <a:path w="9751946" h="2563471">
                <a:moveTo>
                  <a:pt x="9751945" y="0"/>
                </a:moveTo>
                <a:lnTo>
                  <a:pt x="0" y="0"/>
                </a:lnTo>
                <a:lnTo>
                  <a:pt x="0" y="2563471"/>
                </a:lnTo>
                <a:lnTo>
                  <a:pt x="9751945" y="2563471"/>
                </a:lnTo>
                <a:lnTo>
                  <a:pt x="9751945" y="0"/>
                </a:lnTo>
                <a:close/>
              </a:path>
            </a:pathLst>
          </a:custGeom>
          <a:blipFill>
            <a:blip>
              <a:alphaModFix amt="38000"/>
              <a:extLst>
                <a:ext uri="{96DAC541-7B7A-43D3-8B79-37D633B846F1}">
                  <asvg:svgBlip xmlns:asvg="http://schemas.microsoft.com/office/drawing/2016/SVG/main" r:embed="rId2"/>
                </a:ext>
              </a:extLst>
            </a:blip>
            <a:stretch>
              <a:fillRect/>
            </a:stretch>
          </a:blipFill>
        </p:spPr>
        <p:txBody>
          <a:bodyPr/>
          <a:lstStyle/>
          <a:p>
            <a:endParaRPr lang="es-CL"/>
          </a:p>
        </p:txBody>
      </p:sp>
      <p:sp>
        <p:nvSpPr>
          <p:cNvPr id="7" name="Freeform 7"/>
          <p:cNvSpPr/>
          <p:nvPr/>
        </p:nvSpPr>
        <p:spPr>
          <a:xfrm>
            <a:off x="9355925" y="3873914"/>
            <a:ext cx="7979213" cy="3899615"/>
          </a:xfrm>
          <a:custGeom>
            <a:avLst/>
            <a:gdLst/>
            <a:ahLst/>
            <a:cxnLst/>
            <a:rect l="l" t="t" r="r" b="b"/>
            <a:pathLst>
              <a:path w="7979213" h="3899615">
                <a:moveTo>
                  <a:pt x="0" y="0"/>
                </a:moveTo>
                <a:lnTo>
                  <a:pt x="7979212" y="0"/>
                </a:lnTo>
                <a:lnTo>
                  <a:pt x="7979212" y="3899615"/>
                </a:lnTo>
                <a:lnTo>
                  <a:pt x="0" y="3899615"/>
                </a:lnTo>
                <a:lnTo>
                  <a:pt x="0" y="0"/>
                </a:lnTo>
                <a:close/>
              </a:path>
            </a:pathLst>
          </a:custGeom>
          <a:blipFill>
            <a:blip r:embed="rId3"/>
            <a:stretch>
              <a:fillRect/>
            </a:stretch>
          </a:blipFill>
        </p:spPr>
        <p:txBody>
          <a:bodyPr/>
          <a:lstStyle/>
          <a:p>
            <a:endParaRPr lang="es-CL"/>
          </a:p>
        </p:txBody>
      </p:sp>
      <p:sp>
        <p:nvSpPr>
          <p:cNvPr id="8" name="TextBox 8"/>
          <p:cNvSpPr txBox="1"/>
          <p:nvPr/>
        </p:nvSpPr>
        <p:spPr>
          <a:xfrm>
            <a:off x="1285732" y="1019175"/>
            <a:ext cx="15400337" cy="1543050"/>
          </a:xfrm>
          <a:prstGeom prst="rect">
            <a:avLst/>
          </a:prstGeom>
        </p:spPr>
        <p:txBody>
          <a:bodyPr lIns="0" tIns="0" rIns="0" bIns="0" rtlCol="0" anchor="t">
            <a:spAutoFit/>
          </a:bodyPr>
          <a:lstStyle/>
          <a:p>
            <a:pPr marL="0" lvl="0" indent="0" algn="ctr">
              <a:lnSpc>
                <a:spcPts val="12120"/>
              </a:lnSpc>
              <a:spcBef>
                <a:spcPct val="0"/>
              </a:spcBef>
            </a:pPr>
            <a:r>
              <a:rPr lang="en-US" sz="10100" spc="-606">
                <a:solidFill>
                  <a:srgbClr val="F0F6F5"/>
                </a:solidFill>
                <a:latin typeface="Mokoto"/>
                <a:ea typeface="Mokoto"/>
                <a:cs typeface="Mokoto"/>
                <a:sym typeface="Mokoto"/>
              </a:rPr>
              <a:t>Introducción</a:t>
            </a:r>
          </a:p>
        </p:txBody>
      </p:sp>
      <p:sp>
        <p:nvSpPr>
          <p:cNvPr id="9" name="TextBox 9"/>
          <p:cNvSpPr txBox="1"/>
          <p:nvPr/>
        </p:nvSpPr>
        <p:spPr>
          <a:xfrm>
            <a:off x="695807" y="3403129"/>
            <a:ext cx="7409285" cy="4793559"/>
          </a:xfrm>
          <a:prstGeom prst="rect">
            <a:avLst/>
          </a:prstGeom>
        </p:spPr>
        <p:txBody>
          <a:bodyPr lIns="0" tIns="0" rIns="0" bIns="0" rtlCol="0" anchor="t">
            <a:spAutoFit/>
          </a:bodyPr>
          <a:lstStyle/>
          <a:p>
            <a:pPr algn="l">
              <a:lnSpc>
                <a:spcPts val="3893"/>
              </a:lnSpc>
            </a:pPr>
            <a:r>
              <a:rPr lang="en-US" sz="2781">
                <a:solidFill>
                  <a:srgbClr val="000000"/>
                </a:solidFill>
                <a:latin typeface="Canva Sans"/>
                <a:ea typeface="Canva Sans"/>
                <a:cs typeface="Canva Sans"/>
                <a:sym typeface="Canva Sans"/>
              </a:rPr>
              <a:t>DataBridge es una plataforma web desarrollada por Technical Bridge para gestionar carteras de deuda mediante campañas de cobranza. Integra la carga y validación de información, la consulta de obligaciones, los convenios y los pagos en línea. Su propósito es facilitar la gestión de las empresas y entregar a los deudores una alternativa de autogestión.</a:t>
            </a:r>
          </a:p>
          <a:p>
            <a:pPr algn="l">
              <a:lnSpc>
                <a:spcPts val="2974"/>
              </a:lnSpc>
            </a:pPr>
            <a:endParaRPr lang="en-US" sz="2781">
              <a:solidFill>
                <a:srgbClr val="000000"/>
              </a:solidFill>
              <a:latin typeface="Canva Sans"/>
              <a:ea typeface="Canva Sans"/>
              <a:cs typeface="Canva Sans"/>
              <a:sym typeface="Canva Sans"/>
            </a:endParaRPr>
          </a:p>
        </p:txBody>
      </p:sp>
    </p:spTree>
  </p:cSld>
  <p:clrMapOvr>
    <a:masterClrMapping/>
  </p:clrMapOvr>
  <p:transition>
    <p:push/>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0F6F5"/>
        </a:solidFill>
        <a:effectLst/>
      </p:bgPr>
    </p:bg>
    <p:spTree>
      <p:nvGrpSpPr>
        <p:cNvPr id="1" name=""/>
        <p:cNvGrpSpPr/>
        <p:nvPr/>
      </p:nvGrpSpPr>
      <p:grpSpPr>
        <a:xfrm>
          <a:off x="0" y="0"/>
          <a:ext cx="0" cy="0"/>
          <a:chOff x="0" y="0"/>
          <a:chExt cx="0" cy="0"/>
        </a:xfrm>
      </p:grpSpPr>
      <p:sp>
        <p:nvSpPr>
          <p:cNvPr id="2" name="Freeform 2"/>
          <p:cNvSpPr/>
          <p:nvPr/>
        </p:nvSpPr>
        <p:spPr>
          <a:xfrm rot="-10800000">
            <a:off x="-2805621" y="8942007"/>
            <a:ext cx="8288984" cy="2178906"/>
          </a:xfrm>
          <a:custGeom>
            <a:avLst/>
            <a:gdLst/>
            <a:ahLst/>
            <a:cxnLst/>
            <a:rect l="l" t="t" r="r" b="b"/>
            <a:pathLst>
              <a:path w="8288984" h="2178906">
                <a:moveTo>
                  <a:pt x="0" y="0"/>
                </a:moveTo>
                <a:lnTo>
                  <a:pt x="8288985" y="0"/>
                </a:lnTo>
                <a:lnTo>
                  <a:pt x="8288985" y="2178906"/>
                </a:lnTo>
                <a:lnTo>
                  <a:pt x="0" y="2178906"/>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s-CL"/>
          </a:p>
        </p:txBody>
      </p:sp>
      <p:grpSp>
        <p:nvGrpSpPr>
          <p:cNvPr id="3" name="Group 3"/>
          <p:cNvGrpSpPr/>
          <p:nvPr/>
        </p:nvGrpSpPr>
        <p:grpSpPr>
          <a:xfrm>
            <a:off x="11404611" y="-537405"/>
            <a:ext cx="8817711" cy="11470777"/>
            <a:chOff x="0" y="0"/>
            <a:chExt cx="2322360" cy="3021110"/>
          </a:xfrm>
        </p:grpSpPr>
        <p:sp>
          <p:nvSpPr>
            <p:cNvPr id="4" name="Freeform 4"/>
            <p:cNvSpPr/>
            <p:nvPr/>
          </p:nvSpPr>
          <p:spPr>
            <a:xfrm>
              <a:off x="0" y="0"/>
              <a:ext cx="2322360" cy="3021110"/>
            </a:xfrm>
            <a:custGeom>
              <a:avLst/>
              <a:gdLst/>
              <a:ahLst/>
              <a:cxnLst/>
              <a:rect l="l" t="t" r="r" b="b"/>
              <a:pathLst>
                <a:path w="2322360" h="3021110">
                  <a:moveTo>
                    <a:pt x="0" y="0"/>
                  </a:moveTo>
                  <a:lnTo>
                    <a:pt x="2322360" y="0"/>
                  </a:lnTo>
                  <a:lnTo>
                    <a:pt x="2322360" y="3021110"/>
                  </a:lnTo>
                  <a:lnTo>
                    <a:pt x="0" y="3021110"/>
                  </a:lnTo>
                  <a:close/>
                </a:path>
              </a:pathLst>
            </a:custGeom>
            <a:solidFill>
              <a:srgbClr val="4E767D"/>
            </a:solidFill>
          </p:spPr>
          <p:txBody>
            <a:bodyPr/>
            <a:lstStyle/>
            <a:p>
              <a:endParaRPr lang="es-CL"/>
            </a:p>
          </p:txBody>
        </p:sp>
        <p:sp>
          <p:nvSpPr>
            <p:cNvPr id="5" name="TextBox 5"/>
            <p:cNvSpPr txBox="1"/>
            <p:nvPr/>
          </p:nvSpPr>
          <p:spPr>
            <a:xfrm>
              <a:off x="0" y="-47625"/>
              <a:ext cx="2322360" cy="3068735"/>
            </a:xfrm>
            <a:prstGeom prst="rect">
              <a:avLst/>
            </a:prstGeom>
          </p:spPr>
          <p:txBody>
            <a:bodyPr lIns="50800" tIns="50800" rIns="50800" bIns="50800" rtlCol="0" anchor="ctr"/>
            <a:lstStyle/>
            <a:p>
              <a:pPr algn="ctr">
                <a:lnSpc>
                  <a:spcPts val="3174"/>
                </a:lnSpc>
              </a:pPr>
              <a:endParaRPr/>
            </a:p>
          </p:txBody>
        </p:sp>
      </p:grpSp>
      <p:sp>
        <p:nvSpPr>
          <p:cNvPr id="6" name="Freeform 6"/>
          <p:cNvSpPr/>
          <p:nvPr/>
        </p:nvSpPr>
        <p:spPr>
          <a:xfrm rot="-10800000">
            <a:off x="15098928" y="-845750"/>
            <a:ext cx="7130775" cy="1874450"/>
          </a:xfrm>
          <a:custGeom>
            <a:avLst/>
            <a:gdLst/>
            <a:ahLst/>
            <a:cxnLst/>
            <a:rect l="l" t="t" r="r" b="b"/>
            <a:pathLst>
              <a:path w="7130775" h="1874450">
                <a:moveTo>
                  <a:pt x="0" y="0"/>
                </a:moveTo>
                <a:lnTo>
                  <a:pt x="7130775" y="0"/>
                </a:lnTo>
                <a:lnTo>
                  <a:pt x="7130775" y="1874450"/>
                </a:lnTo>
                <a:lnTo>
                  <a:pt x="0" y="1874450"/>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s-CL"/>
          </a:p>
        </p:txBody>
      </p:sp>
      <p:sp>
        <p:nvSpPr>
          <p:cNvPr id="7" name="Freeform 7"/>
          <p:cNvSpPr/>
          <p:nvPr/>
        </p:nvSpPr>
        <p:spPr>
          <a:xfrm>
            <a:off x="12871182" y="2230427"/>
            <a:ext cx="4406941" cy="5754286"/>
          </a:xfrm>
          <a:custGeom>
            <a:avLst/>
            <a:gdLst/>
            <a:ahLst/>
            <a:cxnLst/>
            <a:rect l="l" t="t" r="r" b="b"/>
            <a:pathLst>
              <a:path w="4406941" h="5754286">
                <a:moveTo>
                  <a:pt x="0" y="0"/>
                </a:moveTo>
                <a:lnTo>
                  <a:pt x="4406941" y="0"/>
                </a:lnTo>
                <a:lnTo>
                  <a:pt x="4406941" y="5754286"/>
                </a:lnTo>
                <a:lnTo>
                  <a:pt x="0" y="5754286"/>
                </a:lnTo>
                <a:lnTo>
                  <a:pt x="0" y="0"/>
                </a:lnTo>
                <a:close/>
              </a:path>
            </a:pathLst>
          </a:custGeom>
          <a:blipFill>
            <a:blip r:embed="rId4"/>
            <a:stretch>
              <a:fillRect/>
            </a:stretch>
          </a:blipFill>
        </p:spPr>
        <p:txBody>
          <a:bodyPr/>
          <a:lstStyle/>
          <a:p>
            <a:endParaRPr lang="es-CL"/>
          </a:p>
        </p:txBody>
      </p:sp>
      <p:sp>
        <p:nvSpPr>
          <p:cNvPr id="8" name="TextBox 8"/>
          <p:cNvSpPr txBox="1"/>
          <p:nvPr/>
        </p:nvSpPr>
        <p:spPr>
          <a:xfrm>
            <a:off x="1028700" y="3545010"/>
            <a:ext cx="7983713" cy="4330481"/>
          </a:xfrm>
          <a:prstGeom prst="rect">
            <a:avLst/>
          </a:prstGeom>
        </p:spPr>
        <p:txBody>
          <a:bodyPr lIns="0" tIns="0" rIns="0" bIns="0" rtlCol="0" anchor="t">
            <a:spAutoFit/>
          </a:bodyPr>
          <a:lstStyle/>
          <a:p>
            <a:pPr algn="l">
              <a:lnSpc>
                <a:spcPts val="3355"/>
              </a:lnSpc>
            </a:pPr>
            <a:r>
              <a:rPr lang="en-US" sz="2396" b="1" dirty="0">
                <a:solidFill>
                  <a:srgbClr val="05061C"/>
                </a:solidFill>
                <a:latin typeface="Canva Sans Bold"/>
                <a:ea typeface="Canva Sans Bold"/>
                <a:cs typeface="Canva Sans Bold"/>
                <a:sym typeface="Canva Sans Bold"/>
              </a:rPr>
              <a:t>El proyecto se </a:t>
            </a:r>
            <a:r>
              <a:rPr lang="en-US" sz="2396" b="1" dirty="0" err="1">
                <a:solidFill>
                  <a:srgbClr val="05061C"/>
                </a:solidFill>
                <a:latin typeface="Canva Sans Bold"/>
                <a:ea typeface="Canva Sans Bold"/>
                <a:cs typeface="Canva Sans Bold"/>
                <a:sym typeface="Canva Sans Bold"/>
              </a:rPr>
              <a:t>sitúa</a:t>
            </a:r>
            <a:r>
              <a:rPr lang="en-US" sz="2396" b="1" dirty="0">
                <a:solidFill>
                  <a:srgbClr val="05061C"/>
                </a:solidFill>
                <a:latin typeface="Canva Sans Bold"/>
                <a:ea typeface="Canva Sans Bold"/>
                <a:cs typeface="Canva Sans Bold"/>
                <a:sym typeface="Canva Sans Bold"/>
              </a:rPr>
              <a:t> </a:t>
            </a:r>
            <a:r>
              <a:rPr lang="en-US" sz="2396" b="1" dirty="0" err="1">
                <a:solidFill>
                  <a:srgbClr val="05061C"/>
                </a:solidFill>
                <a:latin typeface="Canva Sans Bold"/>
                <a:ea typeface="Canva Sans Bold"/>
                <a:cs typeface="Canva Sans Bold"/>
                <a:sym typeface="Canva Sans Bold"/>
              </a:rPr>
              <a:t>en</a:t>
            </a:r>
            <a:r>
              <a:rPr lang="en-US" sz="2396" b="1" dirty="0">
                <a:solidFill>
                  <a:srgbClr val="05061C"/>
                </a:solidFill>
                <a:latin typeface="Canva Sans Bold"/>
                <a:ea typeface="Canva Sans Bold"/>
                <a:cs typeface="Canva Sans Bold"/>
                <a:sym typeface="Canva Sans Bold"/>
              </a:rPr>
              <a:t> la </a:t>
            </a:r>
            <a:r>
              <a:rPr lang="en-US" sz="2396" b="1" dirty="0" err="1">
                <a:solidFill>
                  <a:srgbClr val="05061C"/>
                </a:solidFill>
                <a:latin typeface="Canva Sans Bold"/>
                <a:ea typeface="Canva Sans Bold"/>
                <a:cs typeface="Canva Sans Bold"/>
                <a:sym typeface="Canva Sans Bold"/>
              </a:rPr>
              <a:t>gestión</a:t>
            </a:r>
            <a:r>
              <a:rPr lang="en-US" sz="2396" b="1" dirty="0">
                <a:solidFill>
                  <a:srgbClr val="05061C"/>
                </a:solidFill>
                <a:latin typeface="Canva Sans Bold"/>
                <a:ea typeface="Canva Sans Bold"/>
                <a:cs typeface="Canva Sans Bold"/>
                <a:sym typeface="Canva Sans Bold"/>
              </a:rPr>
              <a:t> de </a:t>
            </a:r>
            <a:r>
              <a:rPr lang="en-US" sz="2396" b="1" dirty="0" err="1">
                <a:solidFill>
                  <a:srgbClr val="05061C"/>
                </a:solidFill>
                <a:latin typeface="Canva Sans Bold"/>
                <a:ea typeface="Canva Sans Bold"/>
                <a:cs typeface="Canva Sans Bold"/>
                <a:sym typeface="Canva Sans Bold"/>
              </a:rPr>
              <a:t>cobranza</a:t>
            </a:r>
            <a:r>
              <a:rPr lang="en-US" sz="2396" b="1" dirty="0">
                <a:solidFill>
                  <a:srgbClr val="05061C"/>
                </a:solidFill>
                <a:latin typeface="Canva Sans Bold"/>
                <a:ea typeface="Canva Sans Bold"/>
                <a:cs typeface="Canva Sans Bold"/>
                <a:sym typeface="Canva Sans Bold"/>
              </a:rPr>
              <a:t> de </a:t>
            </a:r>
            <a:r>
              <a:rPr lang="en-US" sz="2396" b="1" dirty="0" err="1">
                <a:solidFill>
                  <a:srgbClr val="05061C"/>
                </a:solidFill>
                <a:latin typeface="Canva Sans Bold"/>
                <a:ea typeface="Canva Sans Bold"/>
                <a:cs typeface="Canva Sans Bold"/>
                <a:sym typeface="Canva Sans Bold"/>
              </a:rPr>
              <a:t>empresas</a:t>
            </a:r>
            <a:r>
              <a:rPr lang="en-US" sz="2396" b="1" dirty="0">
                <a:solidFill>
                  <a:srgbClr val="05061C"/>
                </a:solidFill>
                <a:latin typeface="Canva Sans Bold"/>
                <a:ea typeface="Canva Sans Bold"/>
                <a:cs typeface="Canva Sans Bold"/>
                <a:sym typeface="Canva Sans Bold"/>
              </a:rPr>
              <a:t> </a:t>
            </a:r>
            <a:r>
              <a:rPr lang="en-US" sz="2396" b="1" dirty="0" err="1">
                <a:solidFill>
                  <a:srgbClr val="05061C"/>
                </a:solidFill>
                <a:latin typeface="Canva Sans Bold"/>
                <a:ea typeface="Canva Sans Bold"/>
                <a:cs typeface="Canva Sans Bold"/>
                <a:sym typeface="Canva Sans Bold"/>
              </a:rPr>
              <a:t>que</a:t>
            </a:r>
            <a:r>
              <a:rPr lang="en-US" sz="2396" b="1" dirty="0">
                <a:solidFill>
                  <a:srgbClr val="05061C"/>
                </a:solidFill>
                <a:latin typeface="Canva Sans Bold"/>
                <a:ea typeface="Canva Sans Bold"/>
                <a:cs typeface="Canva Sans Bold"/>
                <a:sym typeface="Canva Sans Bold"/>
              </a:rPr>
              <a:t> </a:t>
            </a:r>
            <a:r>
              <a:rPr lang="en-US" sz="2396" b="1" dirty="0" err="1">
                <a:solidFill>
                  <a:srgbClr val="05061C"/>
                </a:solidFill>
                <a:latin typeface="Canva Sans Bold"/>
                <a:ea typeface="Canva Sans Bold"/>
                <a:cs typeface="Canva Sans Bold"/>
                <a:sym typeface="Canva Sans Bold"/>
              </a:rPr>
              <a:t>necesitan</a:t>
            </a:r>
            <a:r>
              <a:rPr lang="en-US" sz="2396" b="1" dirty="0">
                <a:solidFill>
                  <a:srgbClr val="05061C"/>
                </a:solidFill>
                <a:latin typeface="Canva Sans Bold"/>
                <a:ea typeface="Canva Sans Bold"/>
                <a:cs typeface="Canva Sans Bold"/>
                <a:sym typeface="Canva Sans Bold"/>
              </a:rPr>
              <a:t> </a:t>
            </a:r>
            <a:r>
              <a:rPr lang="en-US" sz="2396" b="1" dirty="0" err="1">
                <a:solidFill>
                  <a:srgbClr val="05061C"/>
                </a:solidFill>
                <a:latin typeface="Canva Sans Bold"/>
                <a:ea typeface="Canva Sans Bold"/>
                <a:cs typeface="Canva Sans Bold"/>
                <a:sym typeface="Canva Sans Bold"/>
              </a:rPr>
              <a:t>organizar</a:t>
            </a:r>
            <a:r>
              <a:rPr lang="en-US" sz="2396" b="1" dirty="0">
                <a:solidFill>
                  <a:srgbClr val="05061C"/>
                </a:solidFill>
                <a:latin typeface="Canva Sans Bold"/>
                <a:ea typeface="Canva Sans Bold"/>
                <a:cs typeface="Canva Sans Bold"/>
                <a:sym typeface="Canva Sans Bold"/>
              </a:rPr>
              <a:t> sus </a:t>
            </a:r>
            <a:r>
              <a:rPr lang="en-US" sz="2396" b="1" dirty="0" err="1">
                <a:solidFill>
                  <a:srgbClr val="05061C"/>
                </a:solidFill>
                <a:latin typeface="Canva Sans Bold"/>
                <a:ea typeface="Canva Sans Bold"/>
                <a:cs typeface="Canva Sans Bold"/>
                <a:sym typeface="Canva Sans Bold"/>
              </a:rPr>
              <a:t>carteras</a:t>
            </a:r>
            <a:r>
              <a:rPr lang="en-US" sz="2396" b="1" dirty="0">
                <a:solidFill>
                  <a:srgbClr val="05061C"/>
                </a:solidFill>
                <a:latin typeface="Canva Sans Bold"/>
                <a:ea typeface="Canva Sans Bold"/>
                <a:cs typeface="Canva Sans Bold"/>
                <a:sym typeface="Canva Sans Bold"/>
              </a:rPr>
              <a:t> y </a:t>
            </a:r>
            <a:r>
              <a:rPr lang="en-US" sz="2396" b="1" dirty="0" err="1">
                <a:solidFill>
                  <a:srgbClr val="05061C"/>
                </a:solidFill>
                <a:latin typeface="Canva Sans Bold"/>
                <a:ea typeface="Canva Sans Bold"/>
                <a:cs typeface="Canva Sans Bold"/>
                <a:sym typeface="Canva Sans Bold"/>
              </a:rPr>
              <a:t>dar</a:t>
            </a:r>
            <a:r>
              <a:rPr lang="en-US" sz="2396" b="1" dirty="0">
                <a:solidFill>
                  <a:srgbClr val="05061C"/>
                </a:solidFill>
                <a:latin typeface="Canva Sans Bold"/>
                <a:ea typeface="Canva Sans Bold"/>
                <a:cs typeface="Canva Sans Bold"/>
                <a:sym typeface="Canva Sans Bold"/>
              </a:rPr>
              <a:t> </a:t>
            </a:r>
            <a:r>
              <a:rPr lang="en-US" sz="2396" b="1" dirty="0" err="1">
                <a:solidFill>
                  <a:srgbClr val="05061C"/>
                </a:solidFill>
                <a:latin typeface="Canva Sans Bold"/>
                <a:ea typeface="Canva Sans Bold"/>
                <a:cs typeface="Canva Sans Bold"/>
                <a:sym typeface="Canva Sans Bold"/>
              </a:rPr>
              <a:t>seguimiento</a:t>
            </a:r>
            <a:r>
              <a:rPr lang="en-US" sz="2396" b="1" dirty="0">
                <a:solidFill>
                  <a:srgbClr val="05061C"/>
                </a:solidFill>
                <a:latin typeface="Canva Sans Bold"/>
                <a:ea typeface="Canva Sans Bold"/>
                <a:cs typeface="Canva Sans Bold"/>
                <a:sym typeface="Canva Sans Bold"/>
              </a:rPr>
              <a:t> a </a:t>
            </a:r>
            <a:r>
              <a:rPr lang="en-US" sz="2396" b="1" dirty="0" err="1">
                <a:solidFill>
                  <a:srgbClr val="05061C"/>
                </a:solidFill>
                <a:latin typeface="Canva Sans Bold"/>
                <a:ea typeface="Canva Sans Bold"/>
                <a:cs typeface="Canva Sans Bold"/>
                <a:sym typeface="Canva Sans Bold"/>
              </a:rPr>
              <a:t>obligaciones</a:t>
            </a:r>
            <a:r>
              <a:rPr lang="en-US" sz="2396" b="1" dirty="0">
                <a:solidFill>
                  <a:srgbClr val="05061C"/>
                </a:solidFill>
                <a:latin typeface="Canva Sans Bold"/>
                <a:ea typeface="Canva Sans Bold"/>
                <a:cs typeface="Canva Sans Bold"/>
                <a:sym typeface="Canva Sans Bold"/>
              </a:rPr>
              <a:t> </a:t>
            </a:r>
            <a:r>
              <a:rPr lang="en-US" sz="2396" b="1" dirty="0" err="1">
                <a:solidFill>
                  <a:srgbClr val="05061C"/>
                </a:solidFill>
                <a:latin typeface="Canva Sans Bold"/>
                <a:ea typeface="Canva Sans Bold"/>
                <a:cs typeface="Canva Sans Bold"/>
                <a:sym typeface="Canva Sans Bold"/>
              </a:rPr>
              <a:t>pendientes</a:t>
            </a:r>
            <a:r>
              <a:rPr lang="en-US" sz="2396" b="1" dirty="0">
                <a:solidFill>
                  <a:srgbClr val="05061C"/>
                </a:solidFill>
                <a:latin typeface="Canva Sans Bold"/>
                <a:ea typeface="Canva Sans Bold"/>
                <a:cs typeface="Canva Sans Bold"/>
                <a:sym typeface="Canva Sans Bold"/>
              </a:rPr>
              <a:t>, para </a:t>
            </a:r>
            <a:r>
              <a:rPr lang="en-US" sz="2396" b="1" dirty="0" err="1">
                <a:solidFill>
                  <a:srgbClr val="05061C"/>
                </a:solidFill>
                <a:latin typeface="Canva Sans Bold"/>
                <a:ea typeface="Canva Sans Bold"/>
                <a:cs typeface="Canva Sans Bold"/>
                <a:sym typeface="Canva Sans Bold"/>
              </a:rPr>
              <a:t>una</a:t>
            </a:r>
            <a:r>
              <a:rPr lang="en-US" sz="2396" b="1" dirty="0">
                <a:solidFill>
                  <a:srgbClr val="05061C"/>
                </a:solidFill>
                <a:latin typeface="Canva Sans Bold"/>
                <a:ea typeface="Canva Sans Bold"/>
                <a:cs typeface="Canva Sans Bold"/>
                <a:sym typeface="Canva Sans Bold"/>
              </a:rPr>
              <a:t> </a:t>
            </a:r>
            <a:r>
              <a:rPr lang="en-US" sz="2396" b="1" dirty="0" err="1">
                <a:solidFill>
                  <a:srgbClr val="05061C"/>
                </a:solidFill>
                <a:latin typeface="Canva Sans Bold"/>
                <a:ea typeface="Canva Sans Bold"/>
                <a:cs typeface="Canva Sans Bold"/>
                <a:sym typeface="Canva Sans Bold"/>
              </a:rPr>
              <a:t>migracion</a:t>
            </a:r>
            <a:r>
              <a:rPr lang="en-US" sz="2396" b="1" dirty="0">
                <a:solidFill>
                  <a:srgbClr val="05061C"/>
                </a:solidFill>
                <a:latin typeface="Canva Sans Bold"/>
                <a:ea typeface="Canva Sans Bold"/>
                <a:cs typeface="Canva Sans Bold"/>
                <a:sym typeface="Canva Sans Bold"/>
              </a:rPr>
              <a:t> APOFYX </a:t>
            </a:r>
            <a:r>
              <a:rPr lang="en-US" sz="2396" b="1" dirty="0" err="1">
                <a:solidFill>
                  <a:srgbClr val="05061C"/>
                </a:solidFill>
                <a:latin typeface="Canva Sans Bold"/>
                <a:ea typeface="Canva Sans Bold"/>
                <a:cs typeface="Canva Sans Bold"/>
                <a:sym typeface="Canva Sans Bold"/>
              </a:rPr>
              <a:t>DataBridge</a:t>
            </a:r>
            <a:r>
              <a:rPr lang="en-US" sz="2396" b="1" dirty="0">
                <a:solidFill>
                  <a:srgbClr val="05061C"/>
                </a:solidFill>
                <a:latin typeface="Canva Sans Bold"/>
                <a:ea typeface="Canva Sans Bold"/>
                <a:cs typeface="Canva Sans Bold"/>
                <a:sym typeface="Canva Sans Bold"/>
              </a:rPr>
              <a:t> es el </a:t>
            </a:r>
            <a:r>
              <a:rPr lang="en-US" sz="2396" b="1" dirty="0" err="1">
                <a:solidFill>
                  <a:srgbClr val="05061C"/>
                </a:solidFill>
                <a:latin typeface="Canva Sans Bold"/>
                <a:ea typeface="Canva Sans Bold"/>
                <a:cs typeface="Canva Sans Bold"/>
                <a:sym typeface="Canva Sans Bold"/>
              </a:rPr>
              <a:t>producto</a:t>
            </a:r>
            <a:r>
              <a:rPr lang="en-US" sz="2396" b="1" dirty="0">
                <a:solidFill>
                  <a:srgbClr val="05061C"/>
                </a:solidFill>
                <a:latin typeface="Canva Sans Bold"/>
                <a:ea typeface="Canva Sans Bold"/>
                <a:cs typeface="Canva Sans Bold"/>
                <a:sym typeface="Canva Sans Bold"/>
              </a:rPr>
              <a:t> central y no </a:t>
            </a:r>
            <a:r>
              <a:rPr lang="en-US" sz="2396" b="1" dirty="0" err="1">
                <a:solidFill>
                  <a:srgbClr val="05061C"/>
                </a:solidFill>
                <a:latin typeface="Canva Sans Bold"/>
                <a:ea typeface="Canva Sans Bold"/>
                <a:cs typeface="Canva Sans Bold"/>
                <a:sym typeface="Canva Sans Bold"/>
              </a:rPr>
              <a:t>depende</a:t>
            </a:r>
            <a:r>
              <a:rPr lang="en-US" sz="2396" b="1" dirty="0">
                <a:solidFill>
                  <a:srgbClr val="05061C"/>
                </a:solidFill>
                <a:latin typeface="Canva Sans Bold"/>
                <a:ea typeface="Canva Sans Bold"/>
                <a:cs typeface="Canva Sans Bold"/>
                <a:sym typeface="Canva Sans Bold"/>
              </a:rPr>
              <a:t> </a:t>
            </a:r>
            <a:r>
              <a:rPr lang="en-US" sz="2396" b="1" dirty="0" err="1">
                <a:solidFill>
                  <a:srgbClr val="05061C"/>
                </a:solidFill>
                <a:latin typeface="Canva Sans Bold"/>
                <a:ea typeface="Canva Sans Bold"/>
                <a:cs typeface="Canva Sans Bold"/>
                <a:sym typeface="Canva Sans Bold"/>
              </a:rPr>
              <a:t>exclusivamente</a:t>
            </a:r>
            <a:r>
              <a:rPr lang="en-US" sz="2396" b="1" dirty="0">
                <a:solidFill>
                  <a:srgbClr val="05061C"/>
                </a:solidFill>
                <a:latin typeface="Canva Sans Bold"/>
                <a:ea typeface="Canva Sans Bold"/>
                <a:cs typeface="Canva Sans Bold"/>
                <a:sym typeface="Canva Sans Bold"/>
              </a:rPr>
              <a:t> de </a:t>
            </a:r>
            <a:r>
              <a:rPr lang="en-US" sz="2396" b="1" dirty="0" err="1">
                <a:solidFill>
                  <a:srgbClr val="05061C"/>
                </a:solidFill>
                <a:latin typeface="Canva Sans Bold"/>
                <a:ea typeface="Canva Sans Bold"/>
                <a:cs typeface="Canva Sans Bold"/>
                <a:sym typeface="Canva Sans Bold"/>
              </a:rPr>
              <a:t>estos</a:t>
            </a:r>
            <a:r>
              <a:rPr lang="en-US" sz="2396" b="1" dirty="0">
                <a:solidFill>
                  <a:srgbClr val="05061C"/>
                </a:solidFill>
                <a:latin typeface="Canva Sans Bold"/>
                <a:ea typeface="Canva Sans Bold"/>
                <a:cs typeface="Canva Sans Bold"/>
                <a:sym typeface="Canva Sans Bold"/>
              </a:rPr>
              <a:t> </a:t>
            </a:r>
            <a:r>
              <a:rPr lang="en-US" sz="2396" b="1" dirty="0" err="1">
                <a:solidFill>
                  <a:srgbClr val="05061C"/>
                </a:solidFill>
                <a:latin typeface="Canva Sans Bold"/>
                <a:ea typeface="Canva Sans Bold"/>
                <a:cs typeface="Canva Sans Bold"/>
                <a:sym typeface="Canva Sans Bold"/>
              </a:rPr>
              <a:t>clientes</a:t>
            </a:r>
            <a:r>
              <a:rPr lang="en-US" sz="2396" b="1" dirty="0">
                <a:solidFill>
                  <a:srgbClr val="05061C"/>
                </a:solidFill>
                <a:latin typeface="Canva Sans Bold"/>
                <a:ea typeface="Canva Sans Bold"/>
                <a:cs typeface="Canva Sans Bold"/>
                <a:sym typeface="Canva Sans Bold"/>
              </a:rPr>
              <a:t> de </a:t>
            </a:r>
            <a:r>
              <a:rPr lang="en-US" sz="2396" b="1" dirty="0" err="1">
                <a:solidFill>
                  <a:srgbClr val="05061C"/>
                </a:solidFill>
                <a:latin typeface="Canva Sans Bold"/>
                <a:ea typeface="Canva Sans Bold"/>
                <a:cs typeface="Canva Sans Bold"/>
                <a:sym typeface="Canva Sans Bold"/>
              </a:rPr>
              <a:t>prueba</a:t>
            </a:r>
            <a:r>
              <a:rPr lang="en-US" sz="2396" b="1" dirty="0">
                <a:solidFill>
                  <a:srgbClr val="05061C"/>
                </a:solidFill>
                <a:latin typeface="Canva Sans Bold"/>
                <a:ea typeface="Canva Sans Bold"/>
                <a:cs typeface="Canva Sans Bold"/>
                <a:sym typeface="Canva Sans Bold"/>
              </a:rPr>
              <a:t>.</a:t>
            </a:r>
          </a:p>
          <a:p>
            <a:pPr algn="l">
              <a:lnSpc>
                <a:spcPts val="3355"/>
              </a:lnSpc>
            </a:pPr>
            <a:r>
              <a:rPr lang="en-US" sz="2396" b="1" dirty="0">
                <a:solidFill>
                  <a:srgbClr val="05061C"/>
                </a:solidFill>
                <a:latin typeface="Canva Sans Bold"/>
                <a:ea typeface="Canva Sans Bold"/>
                <a:cs typeface="Canva Sans Bold"/>
                <a:sym typeface="Canva Sans Bold"/>
              </a:rPr>
              <a:t>Se </a:t>
            </a:r>
            <a:r>
              <a:rPr lang="en-US" sz="2396" b="1" dirty="0" err="1">
                <a:solidFill>
                  <a:srgbClr val="05061C"/>
                </a:solidFill>
                <a:latin typeface="Canva Sans Bold"/>
                <a:ea typeface="Canva Sans Bold"/>
                <a:cs typeface="Canva Sans Bold"/>
                <a:sym typeface="Canva Sans Bold"/>
              </a:rPr>
              <a:t>decidió</a:t>
            </a:r>
            <a:r>
              <a:rPr lang="en-US" sz="2396" b="1" dirty="0">
                <a:solidFill>
                  <a:srgbClr val="05061C"/>
                </a:solidFill>
                <a:latin typeface="Canva Sans Bold"/>
                <a:ea typeface="Canva Sans Bold"/>
                <a:cs typeface="Canva Sans Bold"/>
                <a:sym typeface="Canva Sans Bold"/>
              </a:rPr>
              <a:t> </a:t>
            </a:r>
            <a:r>
              <a:rPr lang="en-US" sz="2396" b="1" dirty="0" err="1">
                <a:solidFill>
                  <a:srgbClr val="05061C"/>
                </a:solidFill>
                <a:latin typeface="Canva Sans Bold"/>
                <a:ea typeface="Canva Sans Bold"/>
                <a:cs typeface="Canva Sans Bold"/>
                <a:sym typeface="Canva Sans Bold"/>
              </a:rPr>
              <a:t>continuar</a:t>
            </a:r>
            <a:r>
              <a:rPr lang="en-US" sz="2396" b="1" dirty="0">
                <a:solidFill>
                  <a:srgbClr val="05061C"/>
                </a:solidFill>
                <a:latin typeface="Canva Sans Bold"/>
                <a:ea typeface="Canva Sans Bold"/>
                <a:cs typeface="Canva Sans Bold"/>
                <a:sym typeface="Canva Sans Bold"/>
              </a:rPr>
              <a:t> </a:t>
            </a:r>
            <a:r>
              <a:rPr lang="en-US" sz="2396" b="1" dirty="0" err="1">
                <a:solidFill>
                  <a:srgbClr val="05061C"/>
                </a:solidFill>
                <a:latin typeface="Canva Sans Bold"/>
                <a:ea typeface="Canva Sans Bold"/>
                <a:cs typeface="Canva Sans Bold"/>
                <a:sym typeface="Canva Sans Bold"/>
              </a:rPr>
              <a:t>en</a:t>
            </a:r>
            <a:r>
              <a:rPr lang="en-US" sz="2396" b="1" dirty="0">
                <a:solidFill>
                  <a:srgbClr val="05061C"/>
                </a:solidFill>
                <a:latin typeface="Canva Sans Bold"/>
                <a:ea typeface="Canva Sans Bold"/>
                <a:cs typeface="Canva Sans Bold"/>
                <a:sym typeface="Canva Sans Bold"/>
              </a:rPr>
              <a:t> la gestion de </a:t>
            </a:r>
            <a:r>
              <a:rPr lang="en-US" sz="2396" b="1" dirty="0" err="1">
                <a:solidFill>
                  <a:srgbClr val="05061C"/>
                </a:solidFill>
                <a:latin typeface="Canva Sans Bold"/>
                <a:ea typeface="Canva Sans Bold"/>
                <a:cs typeface="Canva Sans Bold"/>
                <a:sym typeface="Canva Sans Bold"/>
              </a:rPr>
              <a:t>cobranza</a:t>
            </a:r>
            <a:r>
              <a:rPr lang="en-US" sz="2396" b="1" dirty="0">
                <a:solidFill>
                  <a:srgbClr val="05061C"/>
                </a:solidFill>
                <a:latin typeface="Canva Sans Bold"/>
                <a:ea typeface="Canva Sans Bold"/>
                <a:cs typeface="Canva Sans Bold"/>
                <a:sym typeface="Canva Sans Bold"/>
              </a:rPr>
              <a:t> para </a:t>
            </a:r>
            <a:r>
              <a:rPr lang="en-US" sz="2396" b="1" dirty="0" err="1">
                <a:solidFill>
                  <a:srgbClr val="05061C"/>
                </a:solidFill>
                <a:latin typeface="Canva Sans Bold"/>
                <a:ea typeface="Canva Sans Bold"/>
                <a:cs typeface="Canva Sans Bold"/>
                <a:sym typeface="Canva Sans Bold"/>
              </a:rPr>
              <a:t>una</a:t>
            </a:r>
            <a:r>
              <a:rPr lang="en-US" sz="2396" b="1" dirty="0">
                <a:solidFill>
                  <a:srgbClr val="05061C"/>
                </a:solidFill>
                <a:latin typeface="Canva Sans Bold"/>
                <a:ea typeface="Canva Sans Bold"/>
                <a:cs typeface="Canva Sans Bold"/>
                <a:sym typeface="Canva Sans Bold"/>
              </a:rPr>
              <a:t> </a:t>
            </a:r>
            <a:r>
              <a:rPr lang="en-US" sz="2396" b="1" dirty="0" err="1">
                <a:solidFill>
                  <a:srgbClr val="05061C"/>
                </a:solidFill>
                <a:latin typeface="Canva Sans Bold"/>
                <a:ea typeface="Canva Sans Bold"/>
                <a:cs typeface="Canva Sans Bold"/>
                <a:sym typeface="Canva Sans Bold"/>
              </a:rPr>
              <a:t>migración</a:t>
            </a:r>
            <a:r>
              <a:rPr lang="en-US" sz="2396" b="1" dirty="0">
                <a:solidFill>
                  <a:srgbClr val="05061C"/>
                </a:solidFill>
                <a:latin typeface="Canva Sans Bold"/>
                <a:ea typeface="Canva Sans Bold"/>
                <a:cs typeface="Canva Sans Bold"/>
                <a:sym typeface="Canva Sans Bold"/>
              </a:rPr>
              <a:t> mas viable del </a:t>
            </a:r>
            <a:r>
              <a:rPr lang="en-US" sz="2396" b="1" dirty="0" err="1">
                <a:solidFill>
                  <a:srgbClr val="05061C"/>
                </a:solidFill>
                <a:latin typeface="Canva Sans Bold"/>
                <a:ea typeface="Canva Sans Bold"/>
                <a:cs typeface="Canva Sans Bold"/>
                <a:sym typeface="Canva Sans Bold"/>
              </a:rPr>
              <a:t>cliente</a:t>
            </a:r>
            <a:r>
              <a:rPr lang="en-US" sz="2396" b="1" dirty="0">
                <a:solidFill>
                  <a:srgbClr val="05061C"/>
                </a:solidFill>
                <a:latin typeface="Canva Sans Bold"/>
                <a:ea typeface="Canva Sans Bold"/>
                <a:cs typeface="Canva Sans Bold"/>
                <a:sym typeface="Canva Sans Bold"/>
              </a:rPr>
              <a:t>, luego de la </a:t>
            </a:r>
            <a:r>
              <a:rPr lang="en-US" sz="2396" b="1" dirty="0" err="1">
                <a:solidFill>
                  <a:srgbClr val="05061C"/>
                </a:solidFill>
                <a:latin typeface="Canva Sans Bold"/>
                <a:ea typeface="Canva Sans Bold"/>
                <a:cs typeface="Canva Sans Bold"/>
                <a:sym typeface="Canva Sans Bold"/>
              </a:rPr>
              <a:t>desvinculación</a:t>
            </a:r>
            <a:r>
              <a:rPr lang="en-US" sz="2396" b="1" dirty="0">
                <a:solidFill>
                  <a:srgbClr val="05061C"/>
                </a:solidFill>
                <a:latin typeface="Canva Sans Bold"/>
                <a:ea typeface="Canva Sans Bold"/>
                <a:cs typeface="Canva Sans Bold"/>
                <a:sym typeface="Canva Sans Bold"/>
              </a:rPr>
              <a:t> del </a:t>
            </a:r>
            <a:r>
              <a:rPr lang="en-US" sz="2396" b="1" dirty="0" err="1">
                <a:solidFill>
                  <a:srgbClr val="05061C"/>
                </a:solidFill>
                <a:latin typeface="Canva Sans Bold"/>
                <a:ea typeface="Canva Sans Bold"/>
                <a:cs typeface="Canva Sans Bold"/>
                <a:sym typeface="Canva Sans Bold"/>
              </a:rPr>
              <a:t>cliente</a:t>
            </a:r>
            <a:r>
              <a:rPr lang="en-US" sz="2396" b="1" dirty="0">
                <a:solidFill>
                  <a:srgbClr val="05061C"/>
                </a:solidFill>
                <a:latin typeface="Canva Sans Bold"/>
                <a:ea typeface="Canva Sans Bold"/>
                <a:cs typeface="Canva Sans Bold"/>
                <a:sym typeface="Canva Sans Bold"/>
              </a:rPr>
              <a:t> de la Fase 1.</a:t>
            </a:r>
          </a:p>
          <a:p>
            <a:pPr algn="l">
              <a:lnSpc>
                <a:spcPts val="3355"/>
              </a:lnSpc>
            </a:pPr>
            <a:endParaRPr lang="en-US" sz="2396" b="1" dirty="0">
              <a:solidFill>
                <a:srgbClr val="05061C"/>
              </a:solidFill>
              <a:latin typeface="Canva Sans Bold"/>
              <a:ea typeface="Canva Sans Bold"/>
              <a:cs typeface="Canva Sans Bold"/>
              <a:sym typeface="Canva Sans Bold"/>
            </a:endParaRPr>
          </a:p>
        </p:txBody>
      </p:sp>
      <p:sp>
        <p:nvSpPr>
          <p:cNvPr id="9" name="TextBox 9"/>
          <p:cNvSpPr txBox="1"/>
          <p:nvPr/>
        </p:nvSpPr>
        <p:spPr>
          <a:xfrm>
            <a:off x="457200" y="1638300"/>
            <a:ext cx="9498942" cy="1614825"/>
          </a:xfrm>
          <a:prstGeom prst="rect">
            <a:avLst/>
          </a:prstGeom>
        </p:spPr>
        <p:txBody>
          <a:bodyPr lIns="0" tIns="0" rIns="0" bIns="0" rtlCol="0" anchor="t">
            <a:spAutoFit/>
          </a:bodyPr>
          <a:lstStyle/>
          <a:p>
            <a:pPr algn="l">
              <a:lnSpc>
                <a:spcPts val="13160"/>
              </a:lnSpc>
            </a:pPr>
            <a:r>
              <a:rPr lang="en-US" sz="9400" dirty="0" err="1">
                <a:solidFill>
                  <a:srgbClr val="05061C"/>
                </a:solidFill>
                <a:latin typeface="Mokoto"/>
                <a:ea typeface="Mokoto"/>
                <a:cs typeface="Mokoto"/>
                <a:sym typeface="Mokoto"/>
              </a:rPr>
              <a:t>contexto</a:t>
            </a:r>
            <a:endParaRPr lang="en-US" sz="9400" dirty="0">
              <a:solidFill>
                <a:srgbClr val="05061C"/>
              </a:solidFill>
              <a:latin typeface="Mokoto"/>
              <a:ea typeface="Mokoto"/>
              <a:cs typeface="Mokoto"/>
              <a:sym typeface="Mokoto"/>
            </a:endParaRPr>
          </a:p>
        </p:txBody>
      </p:sp>
    </p:spTree>
  </p:cSld>
  <p:clrMapOvr>
    <a:masterClrMapping/>
  </p:clrMapOvr>
  <p:transition>
    <p:push/>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0F6F5"/>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8000" cy="2604951"/>
            <a:chOff x="0" y="0"/>
            <a:chExt cx="4816593" cy="686078"/>
          </a:xfrm>
        </p:grpSpPr>
        <p:sp>
          <p:nvSpPr>
            <p:cNvPr id="3" name="Freeform 3"/>
            <p:cNvSpPr/>
            <p:nvPr/>
          </p:nvSpPr>
          <p:spPr>
            <a:xfrm>
              <a:off x="0" y="0"/>
              <a:ext cx="4816592" cy="686078"/>
            </a:xfrm>
            <a:custGeom>
              <a:avLst/>
              <a:gdLst/>
              <a:ahLst/>
              <a:cxnLst/>
              <a:rect l="l" t="t" r="r" b="b"/>
              <a:pathLst>
                <a:path w="4816592" h="686078">
                  <a:moveTo>
                    <a:pt x="0" y="0"/>
                  </a:moveTo>
                  <a:lnTo>
                    <a:pt x="4816592" y="0"/>
                  </a:lnTo>
                  <a:lnTo>
                    <a:pt x="4816592" y="686078"/>
                  </a:lnTo>
                  <a:lnTo>
                    <a:pt x="0" y="686078"/>
                  </a:lnTo>
                  <a:close/>
                </a:path>
              </a:pathLst>
            </a:custGeom>
            <a:solidFill>
              <a:srgbClr val="4E767D"/>
            </a:solidFill>
          </p:spPr>
          <p:txBody>
            <a:bodyPr/>
            <a:lstStyle/>
            <a:p>
              <a:endParaRPr lang="es-CL"/>
            </a:p>
          </p:txBody>
        </p:sp>
        <p:sp>
          <p:nvSpPr>
            <p:cNvPr id="4" name="TextBox 4"/>
            <p:cNvSpPr txBox="1"/>
            <p:nvPr/>
          </p:nvSpPr>
          <p:spPr>
            <a:xfrm>
              <a:off x="0" y="-47625"/>
              <a:ext cx="4816593" cy="733703"/>
            </a:xfrm>
            <a:prstGeom prst="rect">
              <a:avLst/>
            </a:prstGeom>
          </p:spPr>
          <p:txBody>
            <a:bodyPr lIns="50800" tIns="50800" rIns="50800" bIns="50800" rtlCol="0" anchor="ctr"/>
            <a:lstStyle/>
            <a:p>
              <a:pPr algn="ctr">
                <a:lnSpc>
                  <a:spcPts val="3174"/>
                </a:lnSpc>
              </a:pPr>
              <a:endParaRPr/>
            </a:p>
          </p:txBody>
        </p:sp>
      </p:grpSp>
      <p:sp>
        <p:nvSpPr>
          <p:cNvPr id="5" name="Freeform 5"/>
          <p:cNvSpPr/>
          <p:nvPr/>
        </p:nvSpPr>
        <p:spPr>
          <a:xfrm rot="-10800000">
            <a:off x="-6416770" y="599550"/>
            <a:ext cx="8288984" cy="2178906"/>
          </a:xfrm>
          <a:custGeom>
            <a:avLst/>
            <a:gdLst/>
            <a:ahLst/>
            <a:cxnLst/>
            <a:rect l="l" t="t" r="r" b="b"/>
            <a:pathLst>
              <a:path w="8288984" h="2178906">
                <a:moveTo>
                  <a:pt x="0" y="0"/>
                </a:moveTo>
                <a:lnTo>
                  <a:pt x="8288984" y="0"/>
                </a:lnTo>
                <a:lnTo>
                  <a:pt x="8288984" y="2178906"/>
                </a:lnTo>
                <a:lnTo>
                  <a:pt x="0" y="2178906"/>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s-CL"/>
          </a:p>
        </p:txBody>
      </p:sp>
      <p:sp>
        <p:nvSpPr>
          <p:cNvPr id="6" name="Freeform 6"/>
          <p:cNvSpPr/>
          <p:nvPr/>
        </p:nvSpPr>
        <p:spPr>
          <a:xfrm rot="-10800000">
            <a:off x="14689227" y="75364"/>
            <a:ext cx="8288984" cy="2178906"/>
          </a:xfrm>
          <a:custGeom>
            <a:avLst/>
            <a:gdLst/>
            <a:ahLst/>
            <a:cxnLst/>
            <a:rect l="l" t="t" r="r" b="b"/>
            <a:pathLst>
              <a:path w="8288984" h="2178906">
                <a:moveTo>
                  <a:pt x="0" y="0"/>
                </a:moveTo>
                <a:lnTo>
                  <a:pt x="8288984" y="0"/>
                </a:lnTo>
                <a:lnTo>
                  <a:pt x="8288984" y="2178906"/>
                </a:lnTo>
                <a:lnTo>
                  <a:pt x="0" y="2178906"/>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s-CL"/>
          </a:p>
        </p:txBody>
      </p:sp>
      <p:sp>
        <p:nvSpPr>
          <p:cNvPr id="7" name="Freeform 7"/>
          <p:cNvSpPr/>
          <p:nvPr/>
        </p:nvSpPr>
        <p:spPr>
          <a:xfrm>
            <a:off x="10427116" y="2460724"/>
            <a:ext cx="6832184" cy="5841517"/>
          </a:xfrm>
          <a:custGeom>
            <a:avLst/>
            <a:gdLst/>
            <a:ahLst/>
            <a:cxnLst/>
            <a:rect l="l" t="t" r="r" b="b"/>
            <a:pathLst>
              <a:path w="6832184" h="5841517">
                <a:moveTo>
                  <a:pt x="0" y="0"/>
                </a:moveTo>
                <a:lnTo>
                  <a:pt x="6832184" y="0"/>
                </a:lnTo>
                <a:lnTo>
                  <a:pt x="6832184" y="5841517"/>
                </a:lnTo>
                <a:lnTo>
                  <a:pt x="0" y="5841517"/>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s-CL"/>
          </a:p>
        </p:txBody>
      </p:sp>
      <p:sp>
        <p:nvSpPr>
          <p:cNvPr id="8" name="TextBox 8"/>
          <p:cNvSpPr txBox="1"/>
          <p:nvPr/>
        </p:nvSpPr>
        <p:spPr>
          <a:xfrm>
            <a:off x="2324364" y="1107384"/>
            <a:ext cx="11240359" cy="1201339"/>
          </a:xfrm>
          <a:prstGeom prst="rect">
            <a:avLst/>
          </a:prstGeom>
        </p:spPr>
        <p:txBody>
          <a:bodyPr lIns="0" tIns="0" rIns="0" bIns="0" rtlCol="0" anchor="t">
            <a:spAutoFit/>
          </a:bodyPr>
          <a:lstStyle/>
          <a:p>
            <a:pPr algn="ctr">
              <a:lnSpc>
                <a:spcPts val="9382"/>
              </a:lnSpc>
            </a:pPr>
            <a:r>
              <a:rPr lang="en-US" sz="8158">
                <a:solidFill>
                  <a:srgbClr val="FBFEFE"/>
                </a:solidFill>
                <a:latin typeface="Mokoto"/>
                <a:ea typeface="Mokoto"/>
                <a:cs typeface="Mokoto"/>
                <a:sym typeface="Mokoto"/>
              </a:rPr>
              <a:t>PROBLEMÁTICA</a:t>
            </a:r>
          </a:p>
        </p:txBody>
      </p:sp>
      <p:sp>
        <p:nvSpPr>
          <p:cNvPr id="9" name="TextBox 9"/>
          <p:cNvSpPr txBox="1"/>
          <p:nvPr/>
        </p:nvSpPr>
        <p:spPr>
          <a:xfrm>
            <a:off x="1986834" y="2851514"/>
            <a:ext cx="7403432" cy="5685930"/>
          </a:xfrm>
          <a:prstGeom prst="rect">
            <a:avLst/>
          </a:prstGeom>
        </p:spPr>
        <p:txBody>
          <a:bodyPr lIns="0" tIns="0" rIns="0" bIns="0" rtlCol="0" anchor="t">
            <a:spAutoFit/>
          </a:bodyPr>
          <a:lstStyle/>
          <a:p>
            <a:pPr algn="l">
              <a:lnSpc>
                <a:spcPts val="3470"/>
              </a:lnSpc>
            </a:pPr>
            <a:r>
              <a:rPr lang="en-US" sz="2479">
                <a:solidFill>
                  <a:srgbClr val="000000"/>
                </a:solidFill>
                <a:latin typeface="Sniglet"/>
                <a:ea typeface="Sniglet"/>
                <a:cs typeface="Sniglet"/>
                <a:sym typeface="Sniglet"/>
              </a:rPr>
              <a:t>La gestión manual de cobranza obliga a revisar deudas, contactar a los deudores y registrar pagos uno por uno. Cuando esta información se distribuye entre planillas y comunicaciones separadas, aumenta el tiempo de trabajo, el riesgo de errores y la dificultad para mantener los registros actualizados.</a:t>
            </a:r>
          </a:p>
          <a:p>
            <a:pPr algn="l">
              <a:lnSpc>
                <a:spcPts val="3470"/>
              </a:lnSpc>
            </a:pPr>
            <a:endParaRPr lang="en-US" sz="2479">
              <a:solidFill>
                <a:srgbClr val="000000"/>
              </a:solidFill>
              <a:latin typeface="Sniglet"/>
              <a:ea typeface="Sniglet"/>
              <a:cs typeface="Sniglet"/>
              <a:sym typeface="Sniglet"/>
            </a:endParaRPr>
          </a:p>
          <a:p>
            <a:pPr algn="l">
              <a:lnSpc>
                <a:spcPts val="3470"/>
              </a:lnSpc>
            </a:pPr>
            <a:r>
              <a:rPr lang="en-US" sz="2479">
                <a:solidFill>
                  <a:srgbClr val="000000"/>
                </a:solidFill>
                <a:latin typeface="Sniglet"/>
                <a:ea typeface="Sniglet"/>
                <a:cs typeface="Sniglet"/>
                <a:sym typeface="Sniglet"/>
              </a:rPr>
              <a:t>Frente a esta situación, se necesita una alternativa que permita gestionar carteras mediante campañas, automatizar tareas repetitivas y centralizar el seguimiento, reduciendo la dependencia del trabajo individual por cada caso.</a:t>
            </a:r>
          </a:p>
        </p:txBody>
      </p:sp>
    </p:spTree>
  </p:cSld>
  <p:clrMapOvr>
    <a:masterClrMapping/>
  </p:clrMapOvr>
  <p:transition>
    <p:push/>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0F6F5"/>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8000" cy="2604951"/>
            <a:chOff x="0" y="0"/>
            <a:chExt cx="4816593" cy="686078"/>
          </a:xfrm>
        </p:grpSpPr>
        <p:sp>
          <p:nvSpPr>
            <p:cNvPr id="3" name="Freeform 3"/>
            <p:cNvSpPr/>
            <p:nvPr/>
          </p:nvSpPr>
          <p:spPr>
            <a:xfrm>
              <a:off x="0" y="0"/>
              <a:ext cx="4816592" cy="686078"/>
            </a:xfrm>
            <a:custGeom>
              <a:avLst/>
              <a:gdLst/>
              <a:ahLst/>
              <a:cxnLst/>
              <a:rect l="l" t="t" r="r" b="b"/>
              <a:pathLst>
                <a:path w="4816592" h="686078">
                  <a:moveTo>
                    <a:pt x="0" y="0"/>
                  </a:moveTo>
                  <a:lnTo>
                    <a:pt x="4816592" y="0"/>
                  </a:lnTo>
                  <a:lnTo>
                    <a:pt x="4816592" y="686078"/>
                  </a:lnTo>
                  <a:lnTo>
                    <a:pt x="0" y="686078"/>
                  </a:lnTo>
                  <a:close/>
                </a:path>
              </a:pathLst>
            </a:custGeom>
            <a:solidFill>
              <a:srgbClr val="4E767D"/>
            </a:solidFill>
          </p:spPr>
          <p:txBody>
            <a:bodyPr/>
            <a:lstStyle/>
            <a:p>
              <a:endParaRPr lang="es-CL"/>
            </a:p>
          </p:txBody>
        </p:sp>
        <p:sp>
          <p:nvSpPr>
            <p:cNvPr id="4" name="TextBox 4"/>
            <p:cNvSpPr txBox="1"/>
            <p:nvPr/>
          </p:nvSpPr>
          <p:spPr>
            <a:xfrm>
              <a:off x="0" y="-47625"/>
              <a:ext cx="4816593" cy="733703"/>
            </a:xfrm>
            <a:prstGeom prst="rect">
              <a:avLst/>
            </a:prstGeom>
          </p:spPr>
          <p:txBody>
            <a:bodyPr lIns="50800" tIns="50800" rIns="50800" bIns="50800" rtlCol="0" anchor="ctr"/>
            <a:lstStyle/>
            <a:p>
              <a:pPr algn="ctr">
                <a:lnSpc>
                  <a:spcPts val="3174"/>
                </a:lnSpc>
              </a:pPr>
              <a:endParaRPr/>
            </a:p>
          </p:txBody>
        </p:sp>
      </p:grpSp>
      <p:sp>
        <p:nvSpPr>
          <p:cNvPr id="5" name="TextBox 5"/>
          <p:cNvSpPr txBox="1"/>
          <p:nvPr/>
        </p:nvSpPr>
        <p:spPr>
          <a:xfrm>
            <a:off x="12411577" y="1660428"/>
            <a:ext cx="5530631" cy="1042392"/>
          </a:xfrm>
          <a:prstGeom prst="rect">
            <a:avLst/>
          </a:prstGeom>
        </p:spPr>
        <p:txBody>
          <a:bodyPr lIns="0" tIns="0" rIns="0" bIns="0" rtlCol="0" anchor="t">
            <a:spAutoFit/>
          </a:bodyPr>
          <a:lstStyle/>
          <a:p>
            <a:pPr algn="r">
              <a:lnSpc>
                <a:spcPts val="8282"/>
              </a:lnSpc>
            </a:pPr>
            <a:r>
              <a:rPr lang="en-US" sz="6679" spc="-133">
                <a:solidFill>
                  <a:srgbClr val="FFFFFF"/>
                </a:solidFill>
                <a:latin typeface="Mokoto"/>
                <a:ea typeface="Mokoto"/>
                <a:cs typeface="Mokoto"/>
                <a:sym typeface="Mokoto"/>
              </a:rPr>
              <a:t>Solución </a:t>
            </a:r>
          </a:p>
        </p:txBody>
      </p:sp>
      <p:sp>
        <p:nvSpPr>
          <p:cNvPr id="6" name="TextBox 6"/>
          <p:cNvSpPr txBox="1"/>
          <p:nvPr/>
        </p:nvSpPr>
        <p:spPr>
          <a:xfrm>
            <a:off x="8353478" y="2661846"/>
            <a:ext cx="9588731" cy="6131839"/>
          </a:xfrm>
          <a:prstGeom prst="rect">
            <a:avLst/>
          </a:prstGeom>
        </p:spPr>
        <p:txBody>
          <a:bodyPr lIns="0" tIns="0" rIns="0" bIns="0" rtlCol="0" anchor="t">
            <a:spAutoFit/>
          </a:bodyPr>
          <a:lstStyle/>
          <a:p>
            <a:pPr algn="just">
              <a:lnSpc>
                <a:spcPts val="3274"/>
              </a:lnSpc>
            </a:pPr>
            <a:r>
              <a:rPr lang="en-US" sz="2339">
                <a:solidFill>
                  <a:srgbClr val="000000"/>
                </a:solidFill>
                <a:latin typeface="Canva Sans"/>
                <a:ea typeface="Canva Sans"/>
                <a:cs typeface="Canva Sans"/>
                <a:sym typeface="Canva Sans"/>
              </a:rPr>
              <a:t>DataBridge es una plataforma web que centraliza la gestión de carteras de deuda mediante campañas de cobranza y ofrece a los deudores un portal para consultar y regularizar sus obligaciones.</a:t>
            </a:r>
          </a:p>
          <a:p>
            <a:pPr algn="just">
              <a:lnSpc>
                <a:spcPts val="3274"/>
              </a:lnSpc>
            </a:pPr>
            <a:endParaRPr lang="en-US" sz="2339">
              <a:solidFill>
                <a:srgbClr val="000000"/>
              </a:solidFill>
              <a:latin typeface="Canva Sans"/>
              <a:ea typeface="Canva Sans"/>
              <a:cs typeface="Canva Sans"/>
              <a:sym typeface="Canva Sans"/>
            </a:endParaRPr>
          </a:p>
          <a:p>
            <a:pPr marL="504991" lvl="1" indent="-252495" algn="just">
              <a:lnSpc>
                <a:spcPts val="3274"/>
              </a:lnSpc>
              <a:buAutoNum type="arabicPeriod"/>
            </a:pPr>
            <a:r>
              <a:rPr lang="en-US" sz="2339">
                <a:solidFill>
                  <a:srgbClr val="000000"/>
                </a:solidFill>
                <a:latin typeface="Canva Sans"/>
                <a:ea typeface="Canva Sans"/>
                <a:cs typeface="Canva Sans"/>
                <a:sym typeface="Canva Sans"/>
              </a:rPr>
              <a:t>Gestión de campañas: carga de carteras en Excel o csv, con revisión previa para identificar errores antes de incorporarlos.</a:t>
            </a:r>
          </a:p>
          <a:p>
            <a:pPr marL="504991" lvl="1" indent="-252495" algn="just">
              <a:lnSpc>
                <a:spcPts val="3274"/>
              </a:lnSpc>
              <a:buAutoNum type="arabicPeriod"/>
            </a:pPr>
            <a:r>
              <a:rPr lang="en-US" sz="2339">
                <a:solidFill>
                  <a:srgbClr val="000000"/>
                </a:solidFill>
                <a:latin typeface="Canva Sans"/>
                <a:ea typeface="Canva Sans"/>
                <a:cs typeface="Canva Sans"/>
                <a:sym typeface="Canva Sans"/>
              </a:rPr>
              <a:t>Autogestión del deudor: consulta de deudas y simulaciones de convenios de pagos en cuotas.</a:t>
            </a:r>
          </a:p>
          <a:p>
            <a:pPr marL="504991" lvl="1" indent="-252495" algn="just">
              <a:lnSpc>
                <a:spcPts val="3274"/>
              </a:lnSpc>
              <a:buAutoNum type="arabicPeriod"/>
            </a:pPr>
            <a:r>
              <a:rPr lang="en-US" sz="2339">
                <a:solidFill>
                  <a:srgbClr val="000000"/>
                </a:solidFill>
                <a:latin typeface="Canva Sans"/>
                <a:ea typeface="Canva Sans"/>
                <a:cs typeface="Canva Sans"/>
                <a:sym typeface="Canva Sans"/>
              </a:rPr>
              <a:t>Pagos en linea: Integración con pasarelas de pago y generación de comprobantes.</a:t>
            </a:r>
          </a:p>
          <a:p>
            <a:pPr marL="504991" lvl="1" indent="-252495" algn="just">
              <a:lnSpc>
                <a:spcPts val="3274"/>
              </a:lnSpc>
              <a:buAutoNum type="arabicPeriod"/>
            </a:pPr>
            <a:r>
              <a:rPr lang="en-US" sz="2339">
                <a:solidFill>
                  <a:srgbClr val="000000"/>
                </a:solidFill>
                <a:latin typeface="Canva Sans"/>
                <a:ea typeface="Canva Sans"/>
                <a:cs typeface="Canva Sans"/>
                <a:sym typeface="Canva Sans"/>
              </a:rPr>
              <a:t>Trazabilidad: Seguimiento de campañas, pagos y estados de la deuda.</a:t>
            </a:r>
          </a:p>
          <a:p>
            <a:pPr algn="just">
              <a:lnSpc>
                <a:spcPts val="3274"/>
              </a:lnSpc>
            </a:pPr>
            <a:endParaRPr lang="en-US" sz="2339">
              <a:solidFill>
                <a:srgbClr val="000000"/>
              </a:solidFill>
              <a:latin typeface="Canva Sans"/>
              <a:ea typeface="Canva Sans"/>
              <a:cs typeface="Canva Sans"/>
              <a:sym typeface="Canva Sans"/>
            </a:endParaRPr>
          </a:p>
          <a:p>
            <a:pPr algn="just">
              <a:lnSpc>
                <a:spcPts val="3274"/>
              </a:lnSpc>
              <a:spcBef>
                <a:spcPct val="0"/>
              </a:spcBef>
            </a:pPr>
            <a:r>
              <a:rPr lang="en-US" sz="2339">
                <a:solidFill>
                  <a:srgbClr val="000000"/>
                </a:solidFill>
                <a:latin typeface="Canva Sans"/>
                <a:ea typeface="Canva Sans"/>
                <a:cs typeface="Canva Sans"/>
                <a:sym typeface="Canva Sans"/>
              </a:rPr>
              <a:t>La solución organiza la información y facilita el seguimiento de la cobranza, tanto para las empresas como para los deudores.</a:t>
            </a:r>
          </a:p>
        </p:txBody>
      </p:sp>
      <p:sp>
        <p:nvSpPr>
          <p:cNvPr id="7" name="Freeform 7"/>
          <p:cNvSpPr/>
          <p:nvPr/>
        </p:nvSpPr>
        <p:spPr>
          <a:xfrm>
            <a:off x="2140620" y="2205463"/>
            <a:ext cx="3949208" cy="6084214"/>
          </a:xfrm>
          <a:custGeom>
            <a:avLst/>
            <a:gdLst/>
            <a:ahLst/>
            <a:cxnLst/>
            <a:rect l="l" t="t" r="r" b="b"/>
            <a:pathLst>
              <a:path w="3949208" h="6084214">
                <a:moveTo>
                  <a:pt x="0" y="0"/>
                </a:moveTo>
                <a:lnTo>
                  <a:pt x="3949209" y="0"/>
                </a:lnTo>
                <a:lnTo>
                  <a:pt x="3949209" y="6084215"/>
                </a:lnTo>
                <a:lnTo>
                  <a:pt x="0" y="6084215"/>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s-CL"/>
          </a:p>
        </p:txBody>
      </p:sp>
      <p:sp>
        <p:nvSpPr>
          <p:cNvPr id="8" name="Freeform 8"/>
          <p:cNvSpPr/>
          <p:nvPr/>
        </p:nvSpPr>
        <p:spPr>
          <a:xfrm>
            <a:off x="-4176553" y="397468"/>
            <a:ext cx="7130775" cy="1874450"/>
          </a:xfrm>
          <a:custGeom>
            <a:avLst/>
            <a:gdLst/>
            <a:ahLst/>
            <a:cxnLst/>
            <a:rect l="l" t="t" r="r" b="b"/>
            <a:pathLst>
              <a:path w="7130775" h="1874450">
                <a:moveTo>
                  <a:pt x="0" y="0"/>
                </a:moveTo>
                <a:lnTo>
                  <a:pt x="7130775" y="0"/>
                </a:lnTo>
                <a:lnTo>
                  <a:pt x="7130775" y="1874450"/>
                </a:lnTo>
                <a:lnTo>
                  <a:pt x="0" y="1874450"/>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s-CL"/>
          </a:p>
        </p:txBody>
      </p:sp>
      <p:sp>
        <p:nvSpPr>
          <p:cNvPr id="9" name="Freeform 9"/>
          <p:cNvSpPr/>
          <p:nvPr/>
        </p:nvSpPr>
        <p:spPr>
          <a:xfrm rot="-10800000">
            <a:off x="16722952" y="-185447"/>
            <a:ext cx="7130775" cy="1874450"/>
          </a:xfrm>
          <a:custGeom>
            <a:avLst/>
            <a:gdLst/>
            <a:ahLst/>
            <a:cxnLst/>
            <a:rect l="l" t="t" r="r" b="b"/>
            <a:pathLst>
              <a:path w="7130775" h="1874450">
                <a:moveTo>
                  <a:pt x="0" y="0"/>
                </a:moveTo>
                <a:lnTo>
                  <a:pt x="7130775" y="0"/>
                </a:lnTo>
                <a:lnTo>
                  <a:pt x="7130775" y="1874450"/>
                </a:lnTo>
                <a:lnTo>
                  <a:pt x="0" y="1874450"/>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s-CL"/>
          </a:p>
        </p:txBody>
      </p:sp>
    </p:spTree>
  </p:cSld>
  <p:clrMapOvr>
    <a:masterClrMapping/>
  </p:clrMapOvr>
  <p:transition>
    <p:push/>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0F6F5"/>
        </a:solidFill>
        <a:effectLst/>
      </p:bgPr>
    </p:bg>
    <p:spTree>
      <p:nvGrpSpPr>
        <p:cNvPr id="1" name=""/>
        <p:cNvGrpSpPr/>
        <p:nvPr/>
      </p:nvGrpSpPr>
      <p:grpSpPr>
        <a:xfrm>
          <a:off x="0" y="0"/>
          <a:ext cx="0" cy="0"/>
          <a:chOff x="0" y="0"/>
          <a:chExt cx="0" cy="0"/>
        </a:xfrm>
      </p:grpSpPr>
      <p:grpSp>
        <p:nvGrpSpPr>
          <p:cNvPr id="2" name="Group 2"/>
          <p:cNvGrpSpPr/>
          <p:nvPr/>
        </p:nvGrpSpPr>
        <p:grpSpPr>
          <a:xfrm>
            <a:off x="-462379" y="-1496379"/>
            <a:ext cx="20835606" cy="4375597"/>
            <a:chOff x="0" y="0"/>
            <a:chExt cx="5487567" cy="1152421"/>
          </a:xfrm>
        </p:grpSpPr>
        <p:sp>
          <p:nvSpPr>
            <p:cNvPr id="3" name="Freeform 3"/>
            <p:cNvSpPr/>
            <p:nvPr/>
          </p:nvSpPr>
          <p:spPr>
            <a:xfrm>
              <a:off x="0" y="0"/>
              <a:ext cx="5487567" cy="1152421"/>
            </a:xfrm>
            <a:custGeom>
              <a:avLst/>
              <a:gdLst/>
              <a:ahLst/>
              <a:cxnLst/>
              <a:rect l="l" t="t" r="r" b="b"/>
              <a:pathLst>
                <a:path w="5487567" h="1152421">
                  <a:moveTo>
                    <a:pt x="0" y="0"/>
                  </a:moveTo>
                  <a:lnTo>
                    <a:pt x="5487567" y="0"/>
                  </a:lnTo>
                  <a:lnTo>
                    <a:pt x="5487567" y="1152421"/>
                  </a:lnTo>
                  <a:lnTo>
                    <a:pt x="0" y="1152421"/>
                  </a:lnTo>
                  <a:close/>
                </a:path>
              </a:pathLst>
            </a:custGeom>
            <a:solidFill>
              <a:srgbClr val="4E767D"/>
            </a:solidFill>
          </p:spPr>
          <p:txBody>
            <a:bodyPr/>
            <a:lstStyle/>
            <a:p>
              <a:endParaRPr lang="es-CL"/>
            </a:p>
          </p:txBody>
        </p:sp>
        <p:sp>
          <p:nvSpPr>
            <p:cNvPr id="4" name="TextBox 4"/>
            <p:cNvSpPr txBox="1"/>
            <p:nvPr/>
          </p:nvSpPr>
          <p:spPr>
            <a:xfrm>
              <a:off x="0" y="-47625"/>
              <a:ext cx="5487567" cy="1200046"/>
            </a:xfrm>
            <a:prstGeom prst="rect">
              <a:avLst/>
            </a:prstGeom>
          </p:spPr>
          <p:txBody>
            <a:bodyPr lIns="50800" tIns="50800" rIns="50800" bIns="50800" rtlCol="0" anchor="ctr"/>
            <a:lstStyle/>
            <a:p>
              <a:pPr algn="ctr">
                <a:lnSpc>
                  <a:spcPts val="3174"/>
                </a:lnSpc>
              </a:pPr>
              <a:endParaRPr/>
            </a:p>
          </p:txBody>
        </p:sp>
      </p:grpSp>
      <p:sp>
        <p:nvSpPr>
          <p:cNvPr id="5" name="TextBox 5"/>
          <p:cNvSpPr txBox="1"/>
          <p:nvPr/>
        </p:nvSpPr>
        <p:spPr>
          <a:xfrm>
            <a:off x="2056350" y="1444357"/>
            <a:ext cx="14175300" cy="841706"/>
          </a:xfrm>
          <a:prstGeom prst="rect">
            <a:avLst/>
          </a:prstGeom>
        </p:spPr>
        <p:txBody>
          <a:bodyPr lIns="0" tIns="0" rIns="0" bIns="0" rtlCol="0" anchor="t">
            <a:spAutoFit/>
          </a:bodyPr>
          <a:lstStyle/>
          <a:p>
            <a:pPr marL="0" lvl="0" indent="0" algn="ctr">
              <a:lnSpc>
                <a:spcPts val="6816"/>
              </a:lnSpc>
            </a:pPr>
            <a:r>
              <a:rPr lang="en-US" sz="5203">
                <a:solidFill>
                  <a:srgbClr val="F0F6F5"/>
                </a:solidFill>
                <a:latin typeface="Mokoto"/>
                <a:ea typeface="Mokoto"/>
                <a:cs typeface="Mokoto"/>
                <a:sym typeface="Mokoto"/>
              </a:rPr>
              <a:t>Metodología / Plan / Roles</a:t>
            </a:r>
          </a:p>
        </p:txBody>
      </p:sp>
      <p:sp>
        <p:nvSpPr>
          <p:cNvPr id="6" name="Freeform 6"/>
          <p:cNvSpPr/>
          <p:nvPr/>
        </p:nvSpPr>
        <p:spPr>
          <a:xfrm>
            <a:off x="15971858" y="760835"/>
            <a:ext cx="7472692" cy="1964329"/>
          </a:xfrm>
          <a:custGeom>
            <a:avLst/>
            <a:gdLst/>
            <a:ahLst/>
            <a:cxnLst/>
            <a:rect l="l" t="t" r="r" b="b"/>
            <a:pathLst>
              <a:path w="7472692" h="1964329">
                <a:moveTo>
                  <a:pt x="0" y="0"/>
                </a:moveTo>
                <a:lnTo>
                  <a:pt x="7472692" y="0"/>
                </a:lnTo>
                <a:lnTo>
                  <a:pt x="7472692" y="1964330"/>
                </a:lnTo>
                <a:lnTo>
                  <a:pt x="0" y="196433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s-CL"/>
          </a:p>
        </p:txBody>
      </p:sp>
      <p:sp>
        <p:nvSpPr>
          <p:cNvPr id="7" name="Freeform 7"/>
          <p:cNvSpPr/>
          <p:nvPr/>
        </p:nvSpPr>
        <p:spPr>
          <a:xfrm>
            <a:off x="-6473972" y="-372114"/>
            <a:ext cx="8619924" cy="2265899"/>
          </a:xfrm>
          <a:custGeom>
            <a:avLst/>
            <a:gdLst/>
            <a:ahLst/>
            <a:cxnLst/>
            <a:rect l="l" t="t" r="r" b="b"/>
            <a:pathLst>
              <a:path w="8619924" h="2265899">
                <a:moveTo>
                  <a:pt x="0" y="0"/>
                </a:moveTo>
                <a:lnTo>
                  <a:pt x="8619924" y="0"/>
                </a:lnTo>
                <a:lnTo>
                  <a:pt x="8619924" y="2265899"/>
                </a:lnTo>
                <a:lnTo>
                  <a:pt x="0" y="2265899"/>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s-CL"/>
          </a:p>
        </p:txBody>
      </p:sp>
      <p:sp>
        <p:nvSpPr>
          <p:cNvPr id="8" name="Freeform 8"/>
          <p:cNvSpPr/>
          <p:nvPr/>
        </p:nvSpPr>
        <p:spPr>
          <a:xfrm>
            <a:off x="406840" y="2879219"/>
            <a:ext cx="6857320" cy="3650758"/>
          </a:xfrm>
          <a:custGeom>
            <a:avLst/>
            <a:gdLst/>
            <a:ahLst/>
            <a:cxnLst/>
            <a:rect l="l" t="t" r="r" b="b"/>
            <a:pathLst>
              <a:path w="6857320" h="3650758">
                <a:moveTo>
                  <a:pt x="0" y="0"/>
                </a:moveTo>
                <a:lnTo>
                  <a:pt x="6857320" y="0"/>
                </a:lnTo>
                <a:lnTo>
                  <a:pt x="6857320" y="3650757"/>
                </a:lnTo>
                <a:lnTo>
                  <a:pt x="0" y="3650757"/>
                </a:lnTo>
                <a:lnTo>
                  <a:pt x="0" y="0"/>
                </a:lnTo>
                <a:close/>
              </a:path>
            </a:pathLst>
          </a:custGeom>
          <a:blipFill>
            <a:blip r:embed="rId3"/>
            <a:stretch>
              <a:fillRect t="-5215" b="-10990"/>
            </a:stretch>
          </a:blipFill>
        </p:spPr>
        <p:txBody>
          <a:bodyPr/>
          <a:lstStyle/>
          <a:p>
            <a:endParaRPr lang="es-CL"/>
          </a:p>
        </p:txBody>
      </p:sp>
      <p:sp>
        <p:nvSpPr>
          <p:cNvPr id="9" name="Freeform 9"/>
          <p:cNvSpPr/>
          <p:nvPr/>
        </p:nvSpPr>
        <p:spPr>
          <a:xfrm>
            <a:off x="406840" y="6529976"/>
            <a:ext cx="6857320" cy="3757024"/>
          </a:xfrm>
          <a:custGeom>
            <a:avLst/>
            <a:gdLst/>
            <a:ahLst/>
            <a:cxnLst/>
            <a:rect l="l" t="t" r="r" b="b"/>
            <a:pathLst>
              <a:path w="6857320" h="3757024">
                <a:moveTo>
                  <a:pt x="0" y="0"/>
                </a:moveTo>
                <a:lnTo>
                  <a:pt x="6857320" y="0"/>
                </a:lnTo>
                <a:lnTo>
                  <a:pt x="6857320" y="3757024"/>
                </a:lnTo>
                <a:lnTo>
                  <a:pt x="0" y="3757024"/>
                </a:lnTo>
                <a:lnTo>
                  <a:pt x="0" y="0"/>
                </a:lnTo>
                <a:close/>
              </a:path>
            </a:pathLst>
          </a:custGeom>
          <a:blipFill>
            <a:blip r:embed="rId4"/>
            <a:stretch>
              <a:fillRect l="-765" r="-1995"/>
            </a:stretch>
          </a:blipFill>
        </p:spPr>
        <p:txBody>
          <a:bodyPr/>
          <a:lstStyle/>
          <a:p>
            <a:endParaRPr lang="es-CL"/>
          </a:p>
        </p:txBody>
      </p:sp>
      <p:sp>
        <p:nvSpPr>
          <p:cNvPr id="10" name="TextBox 10"/>
          <p:cNvSpPr txBox="1"/>
          <p:nvPr/>
        </p:nvSpPr>
        <p:spPr>
          <a:xfrm>
            <a:off x="8188924" y="2841119"/>
            <a:ext cx="9070376" cy="6845808"/>
          </a:xfrm>
          <a:prstGeom prst="rect">
            <a:avLst/>
          </a:prstGeom>
        </p:spPr>
        <p:txBody>
          <a:bodyPr lIns="0" tIns="0" rIns="0" bIns="0" rtlCol="0" anchor="t">
            <a:spAutoFit/>
          </a:bodyPr>
          <a:lstStyle/>
          <a:p>
            <a:pPr marL="474979" lvl="1" indent="-237490" algn="l">
              <a:lnSpc>
                <a:spcPts val="3035"/>
              </a:lnSpc>
              <a:buAutoNum type="arabicPeriod"/>
            </a:pPr>
            <a:r>
              <a:rPr lang="en-US" sz="2199" b="1" spc="-255">
                <a:solidFill>
                  <a:srgbClr val="000000"/>
                </a:solidFill>
                <a:latin typeface="Canva Sans Medium"/>
                <a:ea typeface="Canva Sans Medium"/>
                <a:cs typeface="Canva Sans Medium"/>
                <a:sym typeface="Canva Sans Medium"/>
              </a:rPr>
              <a:t>Plan de trabajo: </a:t>
            </a:r>
          </a:p>
          <a:p>
            <a:pPr algn="l">
              <a:lnSpc>
                <a:spcPts val="3035"/>
              </a:lnSpc>
            </a:pPr>
            <a:r>
              <a:rPr lang="en-US" sz="2199" b="1" spc="-255">
                <a:solidFill>
                  <a:srgbClr val="000000"/>
                </a:solidFill>
                <a:latin typeface="Canva Sans Medium"/>
                <a:ea typeface="Canva Sans Medium"/>
                <a:cs typeface="Canva Sans Medium"/>
                <a:sym typeface="Canva Sans Medium"/>
              </a:rPr>
              <a:t>El trabajo se organiza en levantamiento de requisitos, diseño de la solución, desarrollo incremental, pruebas y documentación. Se prioriza el flujo principal: cargar una cartera, gestionar una campaña y permitir al deudor consultar y pagar sus obligaciones. Cada incremento se revisa para detectar problemas y orientar las siguientes mejoras.</a:t>
            </a:r>
          </a:p>
          <a:p>
            <a:pPr algn="l">
              <a:lnSpc>
                <a:spcPts val="3035"/>
              </a:lnSpc>
            </a:pPr>
            <a:endParaRPr lang="en-US" sz="2199" b="1" spc="-255">
              <a:solidFill>
                <a:srgbClr val="000000"/>
              </a:solidFill>
              <a:latin typeface="Canva Sans Medium"/>
              <a:ea typeface="Canva Sans Medium"/>
              <a:cs typeface="Canva Sans Medium"/>
              <a:sym typeface="Canva Sans Medium"/>
            </a:endParaRPr>
          </a:p>
          <a:p>
            <a:pPr marL="474979" lvl="1" indent="-237490" algn="l">
              <a:lnSpc>
                <a:spcPts val="3035"/>
              </a:lnSpc>
              <a:buAutoNum type="arabicPeriod"/>
            </a:pPr>
            <a:r>
              <a:rPr lang="en-US" sz="2199" b="1" spc="-255">
                <a:solidFill>
                  <a:srgbClr val="000000"/>
                </a:solidFill>
                <a:latin typeface="Canva Sans Medium"/>
                <a:ea typeface="Canva Sans Medium"/>
                <a:cs typeface="Canva Sans Medium"/>
                <a:sym typeface="Canva Sans Medium"/>
              </a:rPr>
              <a:t>Metodologia:</a:t>
            </a:r>
          </a:p>
          <a:p>
            <a:pPr algn="l">
              <a:lnSpc>
                <a:spcPts val="3035"/>
              </a:lnSpc>
            </a:pPr>
            <a:r>
              <a:rPr lang="en-US" sz="2199" b="1" spc="-255">
                <a:solidFill>
                  <a:srgbClr val="000000"/>
                </a:solidFill>
                <a:latin typeface="Canva Sans Medium"/>
                <a:ea typeface="Canva Sans Medium"/>
                <a:cs typeface="Canva Sans Medium"/>
                <a:sym typeface="Canva Sans Medium"/>
              </a:rPr>
              <a:t>Utilizamos Scrumban, combinando la planificación y revisión iterativa de Scrum con la gestión visual del trabajo de Kanban. El tablero permite priorizar tareas, identificar bloqueos y dar seguimiento al avance. Este enfoque facilita ajustar el desarrollo de DataBridge según las pruebas y la retroalimentación recibida.</a:t>
            </a:r>
          </a:p>
          <a:p>
            <a:pPr algn="l">
              <a:lnSpc>
                <a:spcPts val="3035"/>
              </a:lnSpc>
            </a:pPr>
            <a:endParaRPr lang="en-US" sz="2199" b="1" spc="-255">
              <a:solidFill>
                <a:srgbClr val="000000"/>
              </a:solidFill>
              <a:latin typeface="Canva Sans Medium"/>
              <a:ea typeface="Canva Sans Medium"/>
              <a:cs typeface="Canva Sans Medium"/>
              <a:sym typeface="Canva Sans Medium"/>
            </a:endParaRPr>
          </a:p>
          <a:p>
            <a:pPr marL="474979" lvl="1" indent="-237490" algn="l">
              <a:lnSpc>
                <a:spcPts val="3035"/>
              </a:lnSpc>
              <a:buAutoNum type="arabicPeriod"/>
            </a:pPr>
            <a:r>
              <a:rPr lang="en-US" sz="2199" b="1" spc="-255">
                <a:solidFill>
                  <a:srgbClr val="000000"/>
                </a:solidFill>
                <a:latin typeface="Canva Sans Medium"/>
                <a:ea typeface="Canva Sans Medium"/>
                <a:cs typeface="Canva Sans Medium"/>
                <a:sym typeface="Canva Sans Medium"/>
              </a:rPr>
              <a:t>Roles</a:t>
            </a:r>
          </a:p>
          <a:p>
            <a:pPr marL="474979" lvl="1" indent="-237490" algn="l">
              <a:lnSpc>
                <a:spcPts val="3035"/>
              </a:lnSpc>
              <a:buFont typeface="Arial"/>
              <a:buChar char="•"/>
            </a:pPr>
            <a:r>
              <a:rPr lang="en-US" sz="2199" b="1" spc="-255">
                <a:solidFill>
                  <a:srgbClr val="000000"/>
                </a:solidFill>
                <a:latin typeface="Canva Sans Medium"/>
                <a:ea typeface="Canva Sans Medium"/>
                <a:cs typeface="Canva Sans Medium"/>
                <a:sym typeface="Canva Sans Medium"/>
              </a:rPr>
              <a:t>Product Owner: Flavio Henríquez</a:t>
            </a:r>
          </a:p>
          <a:p>
            <a:pPr marL="474979" lvl="1" indent="-237490" algn="l">
              <a:lnSpc>
                <a:spcPts val="3035"/>
              </a:lnSpc>
              <a:buFont typeface="Arial"/>
              <a:buChar char="•"/>
            </a:pPr>
            <a:r>
              <a:rPr lang="en-US" sz="2199" b="1" spc="-255">
                <a:solidFill>
                  <a:srgbClr val="000000"/>
                </a:solidFill>
                <a:latin typeface="Canva Sans Medium"/>
                <a:ea typeface="Canva Sans Medium"/>
                <a:cs typeface="Canva Sans Medium"/>
                <a:sym typeface="Canva Sans Medium"/>
              </a:rPr>
              <a:t>Scrum master: Martín Gutiérrez</a:t>
            </a:r>
          </a:p>
          <a:p>
            <a:pPr marL="474979" lvl="1" indent="-237490" algn="l">
              <a:lnSpc>
                <a:spcPts val="3035"/>
              </a:lnSpc>
              <a:buFont typeface="Arial"/>
              <a:buChar char="•"/>
            </a:pPr>
            <a:r>
              <a:rPr lang="en-US" sz="2199" b="1" spc="-255">
                <a:solidFill>
                  <a:srgbClr val="000000"/>
                </a:solidFill>
                <a:latin typeface="Canva Sans Medium"/>
                <a:ea typeface="Canva Sans Medium"/>
                <a:cs typeface="Canva Sans Medium"/>
                <a:sym typeface="Canva Sans Medium"/>
              </a:rPr>
              <a:t>QA/Desarrollador Fullstack: Pedro Campos</a:t>
            </a:r>
          </a:p>
          <a:p>
            <a:pPr marL="474979" lvl="1" indent="-237490" algn="l">
              <a:lnSpc>
                <a:spcPts val="3035"/>
              </a:lnSpc>
              <a:buFont typeface="Arial"/>
              <a:buChar char="•"/>
            </a:pPr>
            <a:r>
              <a:rPr lang="en-US" sz="2199" b="1" spc="-255">
                <a:solidFill>
                  <a:srgbClr val="000000"/>
                </a:solidFill>
                <a:latin typeface="Canva Sans Medium"/>
                <a:ea typeface="Canva Sans Medium"/>
                <a:cs typeface="Canva Sans Medium"/>
                <a:sym typeface="Canva Sans Medium"/>
              </a:rPr>
              <a:t>Desarrollador fullstack: Esteban Maino</a:t>
            </a:r>
          </a:p>
          <a:p>
            <a:pPr algn="l">
              <a:lnSpc>
                <a:spcPts val="3035"/>
              </a:lnSpc>
              <a:spcBef>
                <a:spcPct val="0"/>
              </a:spcBef>
            </a:pPr>
            <a:endParaRPr lang="en-US" sz="2199" b="1" spc="-255">
              <a:solidFill>
                <a:srgbClr val="000000"/>
              </a:solidFill>
              <a:latin typeface="Canva Sans Medium"/>
              <a:ea typeface="Canva Sans Medium"/>
              <a:cs typeface="Canva Sans Medium"/>
              <a:sym typeface="Canva Sans Medium"/>
            </a:endParaRPr>
          </a:p>
        </p:txBody>
      </p:sp>
    </p:spTree>
  </p:cSld>
  <p:clrMapOvr>
    <a:masterClrMapping/>
  </p:clrMapOvr>
  <p:transition>
    <p:push/>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0F6F5"/>
        </a:solidFill>
        <a:effectLst/>
      </p:bgPr>
    </p:bg>
    <p:spTree>
      <p:nvGrpSpPr>
        <p:cNvPr id="1" name=""/>
        <p:cNvGrpSpPr/>
        <p:nvPr/>
      </p:nvGrpSpPr>
      <p:grpSpPr>
        <a:xfrm>
          <a:off x="0" y="0"/>
          <a:ext cx="0" cy="0"/>
          <a:chOff x="0" y="0"/>
          <a:chExt cx="0" cy="0"/>
        </a:xfrm>
      </p:grpSpPr>
      <p:grpSp>
        <p:nvGrpSpPr>
          <p:cNvPr id="2" name="Group 2"/>
          <p:cNvGrpSpPr/>
          <p:nvPr/>
        </p:nvGrpSpPr>
        <p:grpSpPr>
          <a:xfrm>
            <a:off x="0" y="-736768"/>
            <a:ext cx="18288000" cy="2604951"/>
            <a:chOff x="0" y="0"/>
            <a:chExt cx="4816593" cy="686078"/>
          </a:xfrm>
        </p:grpSpPr>
        <p:sp>
          <p:nvSpPr>
            <p:cNvPr id="3" name="Freeform 3"/>
            <p:cNvSpPr/>
            <p:nvPr/>
          </p:nvSpPr>
          <p:spPr>
            <a:xfrm>
              <a:off x="0" y="0"/>
              <a:ext cx="4816592" cy="686078"/>
            </a:xfrm>
            <a:custGeom>
              <a:avLst/>
              <a:gdLst/>
              <a:ahLst/>
              <a:cxnLst/>
              <a:rect l="l" t="t" r="r" b="b"/>
              <a:pathLst>
                <a:path w="4816592" h="686078">
                  <a:moveTo>
                    <a:pt x="0" y="0"/>
                  </a:moveTo>
                  <a:lnTo>
                    <a:pt x="4816592" y="0"/>
                  </a:lnTo>
                  <a:lnTo>
                    <a:pt x="4816592" y="686078"/>
                  </a:lnTo>
                  <a:lnTo>
                    <a:pt x="0" y="686078"/>
                  </a:lnTo>
                  <a:close/>
                </a:path>
              </a:pathLst>
            </a:custGeom>
            <a:solidFill>
              <a:srgbClr val="4E767D"/>
            </a:solidFill>
          </p:spPr>
          <p:txBody>
            <a:bodyPr/>
            <a:lstStyle/>
            <a:p>
              <a:endParaRPr lang="es-CL"/>
            </a:p>
          </p:txBody>
        </p:sp>
        <p:sp>
          <p:nvSpPr>
            <p:cNvPr id="4" name="TextBox 4"/>
            <p:cNvSpPr txBox="1"/>
            <p:nvPr/>
          </p:nvSpPr>
          <p:spPr>
            <a:xfrm>
              <a:off x="0" y="-47625"/>
              <a:ext cx="4816593" cy="733703"/>
            </a:xfrm>
            <a:prstGeom prst="rect">
              <a:avLst/>
            </a:prstGeom>
          </p:spPr>
          <p:txBody>
            <a:bodyPr lIns="50800" tIns="50800" rIns="50800" bIns="50800" rtlCol="0" anchor="ctr"/>
            <a:lstStyle/>
            <a:p>
              <a:pPr algn="ctr">
                <a:lnSpc>
                  <a:spcPts val="3174"/>
                </a:lnSpc>
              </a:pPr>
              <a:endParaRPr/>
            </a:p>
          </p:txBody>
        </p:sp>
      </p:grpSp>
      <p:sp>
        <p:nvSpPr>
          <p:cNvPr id="5" name="Freeform 5"/>
          <p:cNvSpPr/>
          <p:nvPr/>
        </p:nvSpPr>
        <p:spPr>
          <a:xfrm>
            <a:off x="2141749" y="1868183"/>
            <a:ext cx="14273728" cy="7289797"/>
          </a:xfrm>
          <a:custGeom>
            <a:avLst/>
            <a:gdLst/>
            <a:ahLst/>
            <a:cxnLst/>
            <a:rect l="l" t="t" r="r" b="b"/>
            <a:pathLst>
              <a:path w="14273728" h="7289797">
                <a:moveTo>
                  <a:pt x="0" y="0"/>
                </a:moveTo>
                <a:lnTo>
                  <a:pt x="14273728" y="0"/>
                </a:lnTo>
                <a:lnTo>
                  <a:pt x="14273728" y="7289797"/>
                </a:lnTo>
                <a:lnTo>
                  <a:pt x="0" y="7289797"/>
                </a:lnTo>
                <a:lnTo>
                  <a:pt x="0" y="0"/>
                </a:lnTo>
                <a:close/>
              </a:path>
            </a:pathLst>
          </a:custGeom>
          <a:blipFill>
            <a:blip r:embed="rId2"/>
            <a:stretch>
              <a:fillRect/>
            </a:stretch>
          </a:blipFill>
        </p:spPr>
        <p:txBody>
          <a:bodyPr/>
          <a:lstStyle/>
          <a:p>
            <a:endParaRPr lang="es-CL"/>
          </a:p>
        </p:txBody>
      </p:sp>
      <p:sp>
        <p:nvSpPr>
          <p:cNvPr id="6" name="TextBox 6"/>
          <p:cNvSpPr txBox="1"/>
          <p:nvPr/>
        </p:nvSpPr>
        <p:spPr>
          <a:xfrm>
            <a:off x="3004161" y="677558"/>
            <a:ext cx="13332914" cy="1190625"/>
          </a:xfrm>
          <a:prstGeom prst="rect">
            <a:avLst/>
          </a:prstGeom>
        </p:spPr>
        <p:txBody>
          <a:bodyPr lIns="0" tIns="0" rIns="0" bIns="0" rtlCol="0" anchor="t">
            <a:spAutoFit/>
          </a:bodyPr>
          <a:lstStyle/>
          <a:p>
            <a:pPr marL="0" lvl="0" indent="0" algn="l">
              <a:lnSpc>
                <a:spcPts val="9306"/>
              </a:lnSpc>
              <a:spcBef>
                <a:spcPct val="0"/>
              </a:spcBef>
            </a:pPr>
            <a:r>
              <a:rPr lang="en-US" sz="7755" spc="-271">
                <a:solidFill>
                  <a:srgbClr val="FBFEFE"/>
                </a:solidFill>
                <a:latin typeface="Mokoto"/>
                <a:ea typeface="Mokoto"/>
                <a:cs typeface="Mokoto"/>
                <a:sym typeface="Mokoto"/>
              </a:rPr>
              <a:t>Mapa tecnológico</a:t>
            </a:r>
          </a:p>
        </p:txBody>
      </p:sp>
    </p:spTree>
  </p:cSld>
  <p:clrMapOvr>
    <a:masterClrMapping/>
  </p:clrMapOvr>
  <p:transition>
    <p:push/>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0F6F5"/>
        </a:solidFill>
        <a:effectLst/>
      </p:bgPr>
    </p:bg>
    <p:spTree>
      <p:nvGrpSpPr>
        <p:cNvPr id="1" name=""/>
        <p:cNvGrpSpPr/>
        <p:nvPr/>
      </p:nvGrpSpPr>
      <p:grpSpPr>
        <a:xfrm>
          <a:off x="0" y="0"/>
          <a:ext cx="0" cy="0"/>
          <a:chOff x="0" y="0"/>
          <a:chExt cx="0" cy="0"/>
        </a:xfrm>
      </p:grpSpPr>
      <p:sp>
        <p:nvSpPr>
          <p:cNvPr id="2" name="Freeform 2"/>
          <p:cNvSpPr/>
          <p:nvPr/>
        </p:nvSpPr>
        <p:spPr>
          <a:xfrm rot="-10800000">
            <a:off x="-1072270" y="9150009"/>
            <a:ext cx="8288984" cy="2178906"/>
          </a:xfrm>
          <a:custGeom>
            <a:avLst/>
            <a:gdLst/>
            <a:ahLst/>
            <a:cxnLst/>
            <a:rect l="l" t="t" r="r" b="b"/>
            <a:pathLst>
              <a:path w="8288984" h="2178906">
                <a:moveTo>
                  <a:pt x="0" y="0"/>
                </a:moveTo>
                <a:lnTo>
                  <a:pt x="8288984" y="0"/>
                </a:lnTo>
                <a:lnTo>
                  <a:pt x="8288984" y="2178906"/>
                </a:lnTo>
                <a:lnTo>
                  <a:pt x="0" y="2178906"/>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s-CL"/>
          </a:p>
        </p:txBody>
      </p:sp>
      <p:grpSp>
        <p:nvGrpSpPr>
          <p:cNvPr id="3" name="Group 3"/>
          <p:cNvGrpSpPr/>
          <p:nvPr/>
        </p:nvGrpSpPr>
        <p:grpSpPr>
          <a:xfrm>
            <a:off x="0" y="-729606"/>
            <a:ext cx="18288000" cy="2604951"/>
            <a:chOff x="0" y="0"/>
            <a:chExt cx="4816593" cy="686078"/>
          </a:xfrm>
        </p:grpSpPr>
        <p:sp>
          <p:nvSpPr>
            <p:cNvPr id="4" name="Freeform 4"/>
            <p:cNvSpPr/>
            <p:nvPr/>
          </p:nvSpPr>
          <p:spPr>
            <a:xfrm>
              <a:off x="0" y="0"/>
              <a:ext cx="4816592" cy="686078"/>
            </a:xfrm>
            <a:custGeom>
              <a:avLst/>
              <a:gdLst/>
              <a:ahLst/>
              <a:cxnLst/>
              <a:rect l="l" t="t" r="r" b="b"/>
              <a:pathLst>
                <a:path w="4816592" h="686078">
                  <a:moveTo>
                    <a:pt x="0" y="0"/>
                  </a:moveTo>
                  <a:lnTo>
                    <a:pt x="4816592" y="0"/>
                  </a:lnTo>
                  <a:lnTo>
                    <a:pt x="4816592" y="686078"/>
                  </a:lnTo>
                  <a:lnTo>
                    <a:pt x="0" y="686078"/>
                  </a:lnTo>
                  <a:close/>
                </a:path>
              </a:pathLst>
            </a:custGeom>
            <a:solidFill>
              <a:srgbClr val="4E767D"/>
            </a:solidFill>
          </p:spPr>
          <p:txBody>
            <a:bodyPr/>
            <a:lstStyle/>
            <a:p>
              <a:endParaRPr lang="es-CL"/>
            </a:p>
          </p:txBody>
        </p:sp>
        <p:sp>
          <p:nvSpPr>
            <p:cNvPr id="5" name="TextBox 5"/>
            <p:cNvSpPr txBox="1"/>
            <p:nvPr/>
          </p:nvSpPr>
          <p:spPr>
            <a:xfrm>
              <a:off x="0" y="-47625"/>
              <a:ext cx="4816593" cy="733703"/>
            </a:xfrm>
            <a:prstGeom prst="rect">
              <a:avLst/>
            </a:prstGeom>
          </p:spPr>
          <p:txBody>
            <a:bodyPr lIns="50800" tIns="50800" rIns="50800" bIns="50800" rtlCol="0" anchor="ctr"/>
            <a:lstStyle/>
            <a:p>
              <a:pPr algn="ctr">
                <a:lnSpc>
                  <a:spcPts val="3174"/>
                </a:lnSpc>
              </a:pPr>
              <a:endParaRPr/>
            </a:p>
          </p:txBody>
        </p:sp>
      </p:grpSp>
      <p:sp>
        <p:nvSpPr>
          <p:cNvPr id="6" name="TextBox 6"/>
          <p:cNvSpPr txBox="1"/>
          <p:nvPr/>
        </p:nvSpPr>
        <p:spPr>
          <a:xfrm>
            <a:off x="2158591" y="756982"/>
            <a:ext cx="13791615" cy="759658"/>
          </a:xfrm>
          <a:prstGeom prst="rect">
            <a:avLst/>
          </a:prstGeom>
        </p:spPr>
        <p:txBody>
          <a:bodyPr lIns="0" tIns="0" rIns="0" bIns="0" rtlCol="0" anchor="t">
            <a:spAutoFit/>
          </a:bodyPr>
          <a:lstStyle/>
          <a:p>
            <a:pPr algn="ctr">
              <a:lnSpc>
                <a:spcPts val="6194"/>
              </a:lnSpc>
            </a:pPr>
            <a:r>
              <a:rPr lang="en-US" sz="4424">
                <a:solidFill>
                  <a:srgbClr val="F0F6F5"/>
                </a:solidFill>
                <a:latin typeface="Mokoto"/>
                <a:ea typeface="Mokoto"/>
                <a:cs typeface="Mokoto"/>
                <a:sym typeface="Mokoto"/>
              </a:rPr>
              <a:t>Arquitectura de funcionalidad</a:t>
            </a:r>
          </a:p>
        </p:txBody>
      </p:sp>
      <p:sp>
        <p:nvSpPr>
          <p:cNvPr id="7" name="Freeform 7"/>
          <p:cNvSpPr/>
          <p:nvPr/>
        </p:nvSpPr>
        <p:spPr>
          <a:xfrm>
            <a:off x="-4882582" y="0"/>
            <a:ext cx="7130775" cy="1874450"/>
          </a:xfrm>
          <a:custGeom>
            <a:avLst/>
            <a:gdLst/>
            <a:ahLst/>
            <a:cxnLst/>
            <a:rect l="l" t="t" r="r" b="b"/>
            <a:pathLst>
              <a:path w="7130775" h="1874450">
                <a:moveTo>
                  <a:pt x="0" y="0"/>
                </a:moveTo>
                <a:lnTo>
                  <a:pt x="7130775" y="0"/>
                </a:lnTo>
                <a:lnTo>
                  <a:pt x="7130775" y="1874450"/>
                </a:lnTo>
                <a:lnTo>
                  <a:pt x="0" y="1874450"/>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s-CL"/>
          </a:p>
        </p:txBody>
      </p:sp>
      <p:sp>
        <p:nvSpPr>
          <p:cNvPr id="8" name="Freeform 8"/>
          <p:cNvSpPr/>
          <p:nvPr/>
        </p:nvSpPr>
        <p:spPr>
          <a:xfrm>
            <a:off x="15390132" y="-94518"/>
            <a:ext cx="7130775" cy="1874450"/>
          </a:xfrm>
          <a:custGeom>
            <a:avLst/>
            <a:gdLst/>
            <a:ahLst/>
            <a:cxnLst/>
            <a:rect l="l" t="t" r="r" b="b"/>
            <a:pathLst>
              <a:path w="7130775" h="1874450">
                <a:moveTo>
                  <a:pt x="0" y="0"/>
                </a:moveTo>
                <a:lnTo>
                  <a:pt x="7130775" y="0"/>
                </a:lnTo>
                <a:lnTo>
                  <a:pt x="7130775" y="1874450"/>
                </a:lnTo>
                <a:lnTo>
                  <a:pt x="0" y="1874450"/>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s-CL"/>
          </a:p>
        </p:txBody>
      </p:sp>
      <p:sp>
        <p:nvSpPr>
          <p:cNvPr id="9" name="Freeform 9"/>
          <p:cNvSpPr/>
          <p:nvPr/>
        </p:nvSpPr>
        <p:spPr>
          <a:xfrm>
            <a:off x="5797156" y="1874450"/>
            <a:ext cx="12490844" cy="8337639"/>
          </a:xfrm>
          <a:custGeom>
            <a:avLst/>
            <a:gdLst/>
            <a:ahLst/>
            <a:cxnLst/>
            <a:rect l="l" t="t" r="r" b="b"/>
            <a:pathLst>
              <a:path w="12490844" h="8337639">
                <a:moveTo>
                  <a:pt x="0" y="0"/>
                </a:moveTo>
                <a:lnTo>
                  <a:pt x="12490844" y="0"/>
                </a:lnTo>
                <a:lnTo>
                  <a:pt x="12490844" y="8337639"/>
                </a:lnTo>
                <a:lnTo>
                  <a:pt x="0" y="8337639"/>
                </a:lnTo>
                <a:lnTo>
                  <a:pt x="0" y="0"/>
                </a:lnTo>
                <a:close/>
              </a:path>
            </a:pathLst>
          </a:custGeom>
          <a:blipFill>
            <a:blip r:embed="rId4"/>
            <a:stretch>
              <a:fillRect/>
            </a:stretch>
          </a:blipFill>
        </p:spPr>
        <p:txBody>
          <a:bodyPr/>
          <a:lstStyle/>
          <a:p>
            <a:endParaRPr lang="es-CL"/>
          </a:p>
        </p:txBody>
      </p:sp>
      <p:sp>
        <p:nvSpPr>
          <p:cNvPr id="10" name="TextBox 10"/>
          <p:cNvSpPr txBox="1"/>
          <p:nvPr/>
        </p:nvSpPr>
        <p:spPr>
          <a:xfrm>
            <a:off x="196525" y="3431923"/>
            <a:ext cx="5394590" cy="4606405"/>
          </a:xfrm>
          <a:prstGeom prst="rect">
            <a:avLst/>
          </a:prstGeom>
        </p:spPr>
        <p:txBody>
          <a:bodyPr lIns="0" tIns="0" rIns="0" bIns="0" rtlCol="0" anchor="t">
            <a:spAutoFit/>
          </a:bodyPr>
          <a:lstStyle/>
          <a:p>
            <a:pPr algn="l">
              <a:lnSpc>
                <a:spcPts val="3303"/>
              </a:lnSpc>
              <a:spcBef>
                <a:spcPct val="0"/>
              </a:spcBef>
            </a:pPr>
            <a:r>
              <a:rPr lang="en-US" sz="2540" spc="134">
                <a:solidFill>
                  <a:srgbClr val="05061C"/>
                </a:solidFill>
                <a:latin typeface="Canva Sans"/>
                <a:ea typeface="Canva Sans"/>
                <a:cs typeface="Canva Sans"/>
                <a:sym typeface="Canva Sans"/>
              </a:rPr>
              <a:t>En esta actualización de la arquitectura de funcionamiento, se incorporaron medidas de seguridad como cifrado AES-256 y hashing SHA-256 para proteger los datos, El diseño implementa la separacion de las APIs y BDs con mecanismos de expiracion de tokens y enlaces de recuperacion.</a:t>
            </a:r>
          </a:p>
        </p:txBody>
      </p:sp>
    </p:spTree>
  </p:cSld>
  <p:clrMapOvr>
    <a:masterClrMapping/>
  </p:clrMapOvr>
  <p:transition>
    <p:push/>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0F6F5"/>
        </a:solidFill>
        <a:effectLst/>
      </p:bgPr>
    </p:bg>
    <p:spTree>
      <p:nvGrpSpPr>
        <p:cNvPr id="1" name=""/>
        <p:cNvGrpSpPr/>
        <p:nvPr/>
      </p:nvGrpSpPr>
      <p:grpSpPr>
        <a:xfrm>
          <a:off x="0" y="0"/>
          <a:ext cx="0" cy="0"/>
          <a:chOff x="0" y="0"/>
          <a:chExt cx="0" cy="0"/>
        </a:xfrm>
      </p:grpSpPr>
      <p:grpSp>
        <p:nvGrpSpPr>
          <p:cNvPr id="2" name="Group 2"/>
          <p:cNvGrpSpPr/>
          <p:nvPr/>
        </p:nvGrpSpPr>
        <p:grpSpPr>
          <a:xfrm>
            <a:off x="0" y="8467323"/>
            <a:ext cx="18288000" cy="2604951"/>
            <a:chOff x="0" y="0"/>
            <a:chExt cx="4816593" cy="686078"/>
          </a:xfrm>
        </p:grpSpPr>
        <p:sp>
          <p:nvSpPr>
            <p:cNvPr id="3" name="Freeform 3"/>
            <p:cNvSpPr/>
            <p:nvPr/>
          </p:nvSpPr>
          <p:spPr>
            <a:xfrm>
              <a:off x="0" y="0"/>
              <a:ext cx="4816592" cy="686078"/>
            </a:xfrm>
            <a:custGeom>
              <a:avLst/>
              <a:gdLst/>
              <a:ahLst/>
              <a:cxnLst/>
              <a:rect l="l" t="t" r="r" b="b"/>
              <a:pathLst>
                <a:path w="4816592" h="686078">
                  <a:moveTo>
                    <a:pt x="0" y="0"/>
                  </a:moveTo>
                  <a:lnTo>
                    <a:pt x="4816592" y="0"/>
                  </a:lnTo>
                  <a:lnTo>
                    <a:pt x="4816592" y="686078"/>
                  </a:lnTo>
                  <a:lnTo>
                    <a:pt x="0" y="686078"/>
                  </a:lnTo>
                  <a:close/>
                </a:path>
              </a:pathLst>
            </a:custGeom>
            <a:solidFill>
              <a:srgbClr val="4E767D"/>
            </a:solidFill>
          </p:spPr>
          <p:txBody>
            <a:bodyPr/>
            <a:lstStyle/>
            <a:p>
              <a:endParaRPr lang="es-CL"/>
            </a:p>
          </p:txBody>
        </p:sp>
        <p:sp>
          <p:nvSpPr>
            <p:cNvPr id="4" name="TextBox 4"/>
            <p:cNvSpPr txBox="1"/>
            <p:nvPr/>
          </p:nvSpPr>
          <p:spPr>
            <a:xfrm>
              <a:off x="0" y="-47625"/>
              <a:ext cx="4816593" cy="733703"/>
            </a:xfrm>
            <a:prstGeom prst="rect">
              <a:avLst/>
            </a:prstGeom>
          </p:spPr>
          <p:txBody>
            <a:bodyPr lIns="50800" tIns="50800" rIns="50800" bIns="50800" rtlCol="0" anchor="ctr"/>
            <a:lstStyle/>
            <a:p>
              <a:pPr algn="ctr">
                <a:lnSpc>
                  <a:spcPts val="3174"/>
                </a:lnSpc>
              </a:pPr>
              <a:endParaRPr/>
            </a:p>
          </p:txBody>
        </p:sp>
      </p:grpSp>
      <p:sp>
        <p:nvSpPr>
          <p:cNvPr id="5" name="Freeform 5"/>
          <p:cNvSpPr/>
          <p:nvPr/>
        </p:nvSpPr>
        <p:spPr>
          <a:xfrm>
            <a:off x="6426407" y="2987716"/>
            <a:ext cx="4164501" cy="5479607"/>
          </a:xfrm>
          <a:custGeom>
            <a:avLst/>
            <a:gdLst/>
            <a:ahLst/>
            <a:cxnLst/>
            <a:rect l="l" t="t" r="r" b="b"/>
            <a:pathLst>
              <a:path w="4164501" h="5479607">
                <a:moveTo>
                  <a:pt x="0" y="0"/>
                </a:moveTo>
                <a:lnTo>
                  <a:pt x="4164502" y="0"/>
                </a:lnTo>
                <a:lnTo>
                  <a:pt x="4164502" y="5479607"/>
                </a:lnTo>
                <a:lnTo>
                  <a:pt x="0" y="5479607"/>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s-CL"/>
          </a:p>
        </p:txBody>
      </p:sp>
      <p:sp>
        <p:nvSpPr>
          <p:cNvPr id="6" name="TextBox 6"/>
          <p:cNvSpPr txBox="1"/>
          <p:nvPr/>
        </p:nvSpPr>
        <p:spPr>
          <a:xfrm>
            <a:off x="3205344" y="8841468"/>
            <a:ext cx="10949964" cy="1095375"/>
          </a:xfrm>
          <a:prstGeom prst="rect">
            <a:avLst/>
          </a:prstGeom>
        </p:spPr>
        <p:txBody>
          <a:bodyPr lIns="0" tIns="0" rIns="0" bIns="0" rtlCol="0" anchor="t">
            <a:spAutoFit/>
          </a:bodyPr>
          <a:lstStyle/>
          <a:p>
            <a:pPr marL="0" lvl="0" indent="0" algn="ctr">
              <a:lnSpc>
                <a:spcPts val="8672"/>
              </a:lnSpc>
              <a:spcBef>
                <a:spcPct val="0"/>
              </a:spcBef>
            </a:pPr>
            <a:r>
              <a:rPr lang="en-US" sz="7227">
                <a:solidFill>
                  <a:srgbClr val="F0F6F5"/>
                </a:solidFill>
                <a:latin typeface="Mokoto"/>
                <a:ea typeface="Mokoto"/>
                <a:cs typeface="Mokoto"/>
                <a:sym typeface="Mokoto"/>
              </a:rPr>
              <a:t>Competencias</a:t>
            </a:r>
          </a:p>
        </p:txBody>
      </p:sp>
      <p:sp>
        <p:nvSpPr>
          <p:cNvPr id="7" name="TextBox 7"/>
          <p:cNvSpPr txBox="1"/>
          <p:nvPr/>
        </p:nvSpPr>
        <p:spPr>
          <a:xfrm>
            <a:off x="11673933" y="879733"/>
            <a:ext cx="5527985" cy="503035"/>
          </a:xfrm>
          <a:prstGeom prst="rect">
            <a:avLst/>
          </a:prstGeom>
        </p:spPr>
        <p:txBody>
          <a:bodyPr lIns="0" tIns="0" rIns="0" bIns="0" rtlCol="0" anchor="t">
            <a:spAutoFit/>
          </a:bodyPr>
          <a:lstStyle/>
          <a:p>
            <a:pPr marL="0" lvl="0" indent="0" algn="l">
              <a:lnSpc>
                <a:spcPts val="4083"/>
              </a:lnSpc>
              <a:spcBef>
                <a:spcPct val="0"/>
              </a:spcBef>
            </a:pPr>
            <a:r>
              <a:rPr lang="en-US" sz="3140" b="1" spc="166" dirty="0">
                <a:latin typeface="Canva Sans Bold"/>
                <a:ea typeface="Canva Sans Bold"/>
                <a:cs typeface="Canva Sans Bold"/>
                <a:sym typeface="Canva Sans Bold"/>
              </a:rPr>
              <a:t>DESARROLLO FULLSTACK</a:t>
            </a:r>
          </a:p>
        </p:txBody>
      </p:sp>
      <p:sp>
        <p:nvSpPr>
          <p:cNvPr id="8" name="TextBox 8"/>
          <p:cNvSpPr txBox="1"/>
          <p:nvPr/>
        </p:nvSpPr>
        <p:spPr>
          <a:xfrm>
            <a:off x="11568390" y="1550904"/>
            <a:ext cx="5690910" cy="918795"/>
          </a:xfrm>
          <a:prstGeom prst="rect">
            <a:avLst/>
          </a:prstGeom>
        </p:spPr>
        <p:txBody>
          <a:bodyPr lIns="0" tIns="0" rIns="0" bIns="0" rtlCol="0" anchor="t">
            <a:spAutoFit/>
          </a:bodyPr>
          <a:lstStyle/>
          <a:p>
            <a:pPr marL="0" lvl="0" indent="0" algn="l">
              <a:lnSpc>
                <a:spcPts val="2423"/>
              </a:lnSpc>
            </a:pPr>
            <a:r>
              <a:rPr lang="en-US" sz="1923" b="1">
                <a:solidFill>
                  <a:srgbClr val="05061C"/>
                </a:solidFill>
                <a:latin typeface="Canva Sans Bold"/>
                <a:ea typeface="Canva Sans Bold"/>
                <a:cs typeface="Canva Sans Bold"/>
                <a:sym typeface="Canva Sans Bold"/>
              </a:rPr>
              <a:t>integrar interfaces web, servicios backend y bases de datos para construir los flujos de DataBridge.</a:t>
            </a:r>
          </a:p>
        </p:txBody>
      </p:sp>
      <p:sp>
        <p:nvSpPr>
          <p:cNvPr id="9" name="TextBox 9"/>
          <p:cNvSpPr txBox="1"/>
          <p:nvPr/>
        </p:nvSpPr>
        <p:spPr>
          <a:xfrm>
            <a:off x="11568390" y="4604292"/>
            <a:ext cx="6445108" cy="1528395"/>
          </a:xfrm>
          <a:prstGeom prst="rect">
            <a:avLst/>
          </a:prstGeom>
        </p:spPr>
        <p:txBody>
          <a:bodyPr lIns="0" tIns="0" rIns="0" bIns="0" rtlCol="0" anchor="t">
            <a:spAutoFit/>
          </a:bodyPr>
          <a:lstStyle/>
          <a:p>
            <a:pPr marL="0" lvl="0" indent="0" algn="l">
              <a:lnSpc>
                <a:spcPts val="2423"/>
              </a:lnSpc>
            </a:pPr>
            <a:r>
              <a:rPr lang="en-US" sz="1923" b="1">
                <a:solidFill>
                  <a:srgbClr val="05061C"/>
                </a:solidFill>
                <a:latin typeface="Canva Sans Bold"/>
                <a:ea typeface="Canva Sans Bold"/>
                <a:cs typeface="Canva Sans Bold"/>
                <a:sym typeface="Canva Sans Bold"/>
              </a:rPr>
              <a:t>Orientar al equipo hacia objetivos comunes, facilitar acuerdos y tomar decisiones fundamentadas, analizando los requisitos, las dificultades y las alternativas de solución durante el desarrollo de DataBridge.</a:t>
            </a:r>
          </a:p>
        </p:txBody>
      </p:sp>
      <p:sp>
        <p:nvSpPr>
          <p:cNvPr id="10" name="TextBox 10"/>
          <p:cNvSpPr txBox="1"/>
          <p:nvPr/>
        </p:nvSpPr>
        <p:spPr>
          <a:xfrm>
            <a:off x="1410395" y="809220"/>
            <a:ext cx="3579282" cy="503035"/>
          </a:xfrm>
          <a:prstGeom prst="rect">
            <a:avLst/>
          </a:prstGeom>
        </p:spPr>
        <p:txBody>
          <a:bodyPr lIns="0" tIns="0" rIns="0" bIns="0" rtlCol="0" anchor="t">
            <a:spAutoFit/>
          </a:bodyPr>
          <a:lstStyle/>
          <a:p>
            <a:pPr marL="0" lvl="0" indent="0" algn="l">
              <a:lnSpc>
                <a:spcPts val="4083"/>
              </a:lnSpc>
              <a:spcBef>
                <a:spcPct val="0"/>
              </a:spcBef>
            </a:pPr>
            <a:r>
              <a:rPr lang="en-US" sz="3140" b="1" spc="166" dirty="0">
                <a:latin typeface="Canva Sans Bold"/>
                <a:ea typeface="Canva Sans Bold"/>
                <a:cs typeface="Canva Sans Bold"/>
                <a:sym typeface="Canva Sans Bold"/>
              </a:rPr>
              <a:t>ADAPTABILIDAD</a:t>
            </a:r>
          </a:p>
        </p:txBody>
      </p:sp>
      <p:sp>
        <p:nvSpPr>
          <p:cNvPr id="11" name="TextBox 11"/>
          <p:cNvSpPr txBox="1"/>
          <p:nvPr/>
        </p:nvSpPr>
        <p:spPr>
          <a:xfrm>
            <a:off x="1290230" y="1489916"/>
            <a:ext cx="3830228" cy="1660221"/>
          </a:xfrm>
          <a:prstGeom prst="rect">
            <a:avLst/>
          </a:prstGeom>
        </p:spPr>
        <p:txBody>
          <a:bodyPr lIns="0" tIns="0" rIns="0" bIns="0" rtlCol="0" anchor="t">
            <a:spAutoFit/>
          </a:bodyPr>
          <a:lstStyle/>
          <a:p>
            <a:pPr marL="0" lvl="0" indent="0" algn="l">
              <a:lnSpc>
                <a:spcPts val="2675"/>
              </a:lnSpc>
            </a:pPr>
            <a:r>
              <a:rPr lang="en-US" sz="2123" b="1">
                <a:solidFill>
                  <a:srgbClr val="05061C"/>
                </a:solidFill>
                <a:latin typeface="Canva Sans Bold"/>
                <a:ea typeface="Canva Sans Bold"/>
                <a:cs typeface="Canva Sans Bold"/>
                <a:sym typeface="Canva Sans Bold"/>
              </a:rPr>
              <a:t>Ajustar el alcance y las prioridades frente a cambios de contexto, dificultades técnicas y retroalimentación.</a:t>
            </a:r>
          </a:p>
        </p:txBody>
      </p:sp>
      <p:sp>
        <p:nvSpPr>
          <p:cNvPr id="12" name="TextBox 12"/>
          <p:cNvSpPr txBox="1"/>
          <p:nvPr/>
        </p:nvSpPr>
        <p:spPr>
          <a:xfrm>
            <a:off x="1290230" y="4584347"/>
            <a:ext cx="5062246" cy="1411809"/>
          </a:xfrm>
          <a:prstGeom prst="rect">
            <a:avLst/>
          </a:prstGeom>
        </p:spPr>
        <p:txBody>
          <a:bodyPr lIns="0" tIns="0" rIns="0" bIns="0" rtlCol="0" anchor="t">
            <a:spAutoFit/>
          </a:bodyPr>
          <a:lstStyle/>
          <a:p>
            <a:pPr marL="0" lvl="0" indent="0" algn="l">
              <a:lnSpc>
                <a:spcPts val="2801"/>
              </a:lnSpc>
            </a:pPr>
            <a:r>
              <a:rPr lang="en-US" sz="2223" b="1">
                <a:solidFill>
                  <a:srgbClr val="05061C"/>
                </a:solidFill>
                <a:latin typeface="Canva Sans Bold"/>
                <a:ea typeface="Canva Sans Bold"/>
                <a:cs typeface="Canva Sans Bold"/>
                <a:sym typeface="Canva Sans Bold"/>
              </a:rPr>
              <a:t>Organizar y priorizar el trabajo mediante Scrumban, dando seguimiento a las tareas y los bloqueos.</a:t>
            </a:r>
          </a:p>
        </p:txBody>
      </p:sp>
      <p:sp>
        <p:nvSpPr>
          <p:cNvPr id="13" name="TextBox 13"/>
          <p:cNvSpPr txBox="1"/>
          <p:nvPr/>
        </p:nvSpPr>
        <p:spPr>
          <a:xfrm>
            <a:off x="11673933" y="3415457"/>
            <a:ext cx="6339566" cy="1017385"/>
          </a:xfrm>
          <a:prstGeom prst="rect">
            <a:avLst/>
          </a:prstGeom>
        </p:spPr>
        <p:txBody>
          <a:bodyPr lIns="0" tIns="0" rIns="0" bIns="0" rtlCol="0" anchor="t">
            <a:spAutoFit/>
          </a:bodyPr>
          <a:lstStyle/>
          <a:p>
            <a:pPr marL="0" lvl="0" indent="0" algn="l">
              <a:lnSpc>
                <a:spcPts val="4083"/>
              </a:lnSpc>
              <a:spcBef>
                <a:spcPct val="0"/>
              </a:spcBef>
            </a:pPr>
            <a:r>
              <a:rPr lang="en-US" sz="3140" b="1" spc="166" dirty="0">
                <a:latin typeface="Canva Sans Bold"/>
                <a:ea typeface="Canva Sans Bold"/>
                <a:cs typeface="Canva Sans Bold"/>
                <a:sym typeface="Canva Sans Bold"/>
              </a:rPr>
              <a:t>LIDERAZGO Y PENSAMIENTO CRITICO</a:t>
            </a:r>
          </a:p>
        </p:txBody>
      </p:sp>
      <p:sp>
        <p:nvSpPr>
          <p:cNvPr id="14" name="TextBox 14"/>
          <p:cNvSpPr txBox="1"/>
          <p:nvPr/>
        </p:nvSpPr>
        <p:spPr>
          <a:xfrm>
            <a:off x="1451221" y="3415457"/>
            <a:ext cx="3997705" cy="1017385"/>
          </a:xfrm>
          <a:prstGeom prst="rect">
            <a:avLst/>
          </a:prstGeom>
        </p:spPr>
        <p:txBody>
          <a:bodyPr lIns="0" tIns="0" rIns="0" bIns="0" rtlCol="0" anchor="t">
            <a:spAutoFit/>
          </a:bodyPr>
          <a:lstStyle/>
          <a:p>
            <a:pPr algn="l">
              <a:lnSpc>
                <a:spcPts val="4083"/>
              </a:lnSpc>
            </a:pPr>
            <a:r>
              <a:rPr lang="en-US" sz="3140" b="1" spc="166" dirty="0">
                <a:latin typeface="Canva Sans Bold"/>
                <a:ea typeface="Canva Sans Bold"/>
                <a:cs typeface="Canva Sans Bold"/>
                <a:sym typeface="Canva Sans Bold"/>
              </a:rPr>
              <a:t>GESTION AGIL DE </a:t>
            </a:r>
          </a:p>
          <a:p>
            <a:pPr marL="0" lvl="0" indent="0" algn="l">
              <a:lnSpc>
                <a:spcPts val="4083"/>
              </a:lnSpc>
              <a:spcBef>
                <a:spcPct val="0"/>
              </a:spcBef>
            </a:pPr>
            <a:r>
              <a:rPr lang="en-US" sz="3140" b="1" spc="166" dirty="0">
                <a:latin typeface="Canva Sans Bold"/>
                <a:ea typeface="Canva Sans Bold"/>
                <a:cs typeface="Canva Sans Bold"/>
                <a:sym typeface="Canva Sans Bold"/>
              </a:rPr>
              <a:t>PROYECTO</a:t>
            </a:r>
          </a:p>
        </p:txBody>
      </p:sp>
    </p:spTree>
  </p:cSld>
  <p:clrMapOvr>
    <a:masterClrMapping/>
  </p:clrMapOvr>
  <p:transition>
    <p:push/>
  </p:transition>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0F6F5"/>
        </a:solidFill>
        <a:effectLst/>
      </p:bgPr>
    </p:bg>
    <p:spTree>
      <p:nvGrpSpPr>
        <p:cNvPr id="1" name=""/>
        <p:cNvGrpSpPr/>
        <p:nvPr/>
      </p:nvGrpSpPr>
      <p:grpSpPr>
        <a:xfrm>
          <a:off x="0" y="0"/>
          <a:ext cx="0" cy="0"/>
          <a:chOff x="0" y="0"/>
          <a:chExt cx="0" cy="0"/>
        </a:xfrm>
      </p:grpSpPr>
      <p:grpSp>
        <p:nvGrpSpPr>
          <p:cNvPr id="2" name="Group 2"/>
          <p:cNvGrpSpPr/>
          <p:nvPr/>
        </p:nvGrpSpPr>
        <p:grpSpPr>
          <a:xfrm>
            <a:off x="-765774" y="-445885"/>
            <a:ext cx="20835606" cy="1926330"/>
            <a:chOff x="0" y="0"/>
            <a:chExt cx="5487567" cy="507346"/>
          </a:xfrm>
        </p:grpSpPr>
        <p:sp>
          <p:nvSpPr>
            <p:cNvPr id="3" name="Freeform 3"/>
            <p:cNvSpPr/>
            <p:nvPr/>
          </p:nvSpPr>
          <p:spPr>
            <a:xfrm>
              <a:off x="0" y="0"/>
              <a:ext cx="5487567" cy="507346"/>
            </a:xfrm>
            <a:custGeom>
              <a:avLst/>
              <a:gdLst/>
              <a:ahLst/>
              <a:cxnLst/>
              <a:rect l="l" t="t" r="r" b="b"/>
              <a:pathLst>
                <a:path w="5487567" h="507346">
                  <a:moveTo>
                    <a:pt x="0" y="0"/>
                  </a:moveTo>
                  <a:lnTo>
                    <a:pt x="5487567" y="0"/>
                  </a:lnTo>
                  <a:lnTo>
                    <a:pt x="5487567" y="507346"/>
                  </a:lnTo>
                  <a:lnTo>
                    <a:pt x="0" y="507346"/>
                  </a:lnTo>
                  <a:close/>
                </a:path>
              </a:pathLst>
            </a:custGeom>
            <a:solidFill>
              <a:srgbClr val="4E767D"/>
            </a:solidFill>
          </p:spPr>
          <p:txBody>
            <a:bodyPr/>
            <a:lstStyle/>
            <a:p>
              <a:endParaRPr lang="es-CL"/>
            </a:p>
          </p:txBody>
        </p:sp>
        <p:sp>
          <p:nvSpPr>
            <p:cNvPr id="4" name="TextBox 4"/>
            <p:cNvSpPr txBox="1"/>
            <p:nvPr/>
          </p:nvSpPr>
          <p:spPr>
            <a:xfrm>
              <a:off x="0" y="-47625"/>
              <a:ext cx="5487567" cy="554971"/>
            </a:xfrm>
            <a:prstGeom prst="rect">
              <a:avLst/>
            </a:prstGeom>
          </p:spPr>
          <p:txBody>
            <a:bodyPr lIns="50800" tIns="50800" rIns="50800" bIns="50800" rtlCol="0" anchor="ctr"/>
            <a:lstStyle/>
            <a:p>
              <a:pPr algn="ctr">
                <a:lnSpc>
                  <a:spcPts val="3174"/>
                </a:lnSpc>
              </a:pPr>
              <a:endParaRPr/>
            </a:p>
          </p:txBody>
        </p:sp>
      </p:grpSp>
      <p:graphicFrame>
        <p:nvGraphicFramePr>
          <p:cNvPr id="5" name="Object 5"/>
          <p:cNvGraphicFramePr/>
          <p:nvPr/>
        </p:nvGraphicFramePr>
        <p:xfrm>
          <a:off x="703808" y="7329673"/>
          <a:ext cx="6600825" cy="3143250"/>
        </p:xfrm>
        <a:graphic>
          <a:graphicData uri="http://schemas.openxmlformats.org/presentationml/2006/ole">
            <mc:AlternateContent xmlns:mc="http://schemas.openxmlformats.org/markup-compatibility/2006">
              <mc:Choice xmlns:v="urn:schemas-microsoft-com:vml" Requires="v">
                <p:oleObj name="Worksheet" r:id="rId2" imgW="7924800" imgH="4457700" progId="Excel.Sheet.12">
                  <p:embed/>
                </p:oleObj>
              </mc:Choice>
              <mc:Fallback>
                <p:oleObj name="Worksheet" r:id="rId2" imgW="7924800" imgH="4457700" progId="Excel.Sheet.12">
                  <p:embed/>
                  <p:pic>
                    <p:nvPicPr>
                      <p:cNvPr id="0" name=""/>
                      <p:cNvPicPr/>
                      <p:nvPr/>
                    </p:nvPicPr>
                    <p:blipFill>
                      <a:blip r:embed="rId3"/>
                      <a:stretch>
                        <a:fillRect/>
                      </a:stretch>
                    </p:blipFill>
                    <p:spPr>
                      <a:xfrm>
                        <a:off x="703808" y="7329673"/>
                        <a:ext cx="6600825" cy="3143250"/>
                      </a:xfrm>
                      <a:prstGeom prst="rect">
                        <a:avLst/>
                      </a:prstGeom>
                    </p:spPr>
                  </p:pic>
                </p:oleObj>
              </mc:Fallback>
            </mc:AlternateContent>
          </a:graphicData>
        </a:graphic>
      </p:graphicFrame>
      <p:sp>
        <p:nvSpPr>
          <p:cNvPr id="6" name="Freeform 6"/>
          <p:cNvSpPr/>
          <p:nvPr/>
        </p:nvSpPr>
        <p:spPr>
          <a:xfrm>
            <a:off x="7184545" y="1689003"/>
            <a:ext cx="7731368" cy="3661720"/>
          </a:xfrm>
          <a:custGeom>
            <a:avLst/>
            <a:gdLst/>
            <a:ahLst/>
            <a:cxnLst/>
            <a:rect l="l" t="t" r="r" b="b"/>
            <a:pathLst>
              <a:path w="7731368" h="3661720">
                <a:moveTo>
                  <a:pt x="0" y="0"/>
                </a:moveTo>
                <a:lnTo>
                  <a:pt x="7731368" y="0"/>
                </a:lnTo>
                <a:lnTo>
                  <a:pt x="7731368" y="3661720"/>
                </a:lnTo>
                <a:lnTo>
                  <a:pt x="0" y="3661720"/>
                </a:lnTo>
                <a:lnTo>
                  <a:pt x="0" y="0"/>
                </a:lnTo>
                <a:close/>
              </a:path>
            </a:pathLst>
          </a:custGeom>
          <a:blipFill>
            <a:blip r:embed="rId4"/>
            <a:stretch>
              <a:fillRect r="-37821" b="-15255"/>
            </a:stretch>
          </a:blipFill>
        </p:spPr>
        <p:txBody>
          <a:bodyPr/>
          <a:lstStyle/>
          <a:p>
            <a:endParaRPr lang="es-CL"/>
          </a:p>
        </p:txBody>
      </p:sp>
      <p:sp>
        <p:nvSpPr>
          <p:cNvPr id="7" name="Freeform 7"/>
          <p:cNvSpPr/>
          <p:nvPr/>
        </p:nvSpPr>
        <p:spPr>
          <a:xfrm>
            <a:off x="14915913" y="1689003"/>
            <a:ext cx="2644958" cy="3661720"/>
          </a:xfrm>
          <a:custGeom>
            <a:avLst/>
            <a:gdLst/>
            <a:ahLst/>
            <a:cxnLst/>
            <a:rect l="l" t="t" r="r" b="b"/>
            <a:pathLst>
              <a:path w="2644958" h="3661720">
                <a:moveTo>
                  <a:pt x="0" y="0"/>
                </a:moveTo>
                <a:lnTo>
                  <a:pt x="2644958" y="0"/>
                </a:lnTo>
                <a:lnTo>
                  <a:pt x="2644958" y="3661720"/>
                </a:lnTo>
                <a:lnTo>
                  <a:pt x="0" y="3661720"/>
                </a:lnTo>
                <a:lnTo>
                  <a:pt x="0" y="0"/>
                </a:lnTo>
                <a:close/>
              </a:path>
            </a:pathLst>
          </a:custGeom>
          <a:blipFill>
            <a:blip r:embed="rId4"/>
            <a:stretch>
              <a:fillRect l="-303690" t="-118" b="-15374"/>
            </a:stretch>
          </a:blipFill>
        </p:spPr>
        <p:txBody>
          <a:bodyPr/>
          <a:lstStyle/>
          <a:p>
            <a:endParaRPr lang="es-CL"/>
          </a:p>
        </p:txBody>
      </p:sp>
      <p:sp>
        <p:nvSpPr>
          <p:cNvPr id="8" name="Freeform 8"/>
          <p:cNvSpPr/>
          <p:nvPr/>
        </p:nvSpPr>
        <p:spPr>
          <a:xfrm>
            <a:off x="521079" y="1480446"/>
            <a:ext cx="6271131" cy="5687302"/>
          </a:xfrm>
          <a:custGeom>
            <a:avLst/>
            <a:gdLst/>
            <a:ahLst/>
            <a:cxnLst/>
            <a:rect l="l" t="t" r="r" b="b"/>
            <a:pathLst>
              <a:path w="6271131" h="5687302">
                <a:moveTo>
                  <a:pt x="0" y="0"/>
                </a:moveTo>
                <a:lnTo>
                  <a:pt x="6271132" y="0"/>
                </a:lnTo>
                <a:lnTo>
                  <a:pt x="6271132" y="5687302"/>
                </a:lnTo>
                <a:lnTo>
                  <a:pt x="0" y="5687302"/>
                </a:lnTo>
                <a:lnTo>
                  <a:pt x="0" y="0"/>
                </a:lnTo>
                <a:close/>
              </a:path>
            </a:pathLst>
          </a:custGeom>
          <a:blipFill>
            <a:blip r:embed="rId5"/>
            <a:stretch>
              <a:fillRect/>
            </a:stretch>
          </a:blipFill>
        </p:spPr>
        <p:txBody>
          <a:bodyPr/>
          <a:lstStyle/>
          <a:p>
            <a:endParaRPr lang="es-CL"/>
          </a:p>
        </p:txBody>
      </p:sp>
      <p:sp>
        <p:nvSpPr>
          <p:cNvPr id="9" name="TextBox 9"/>
          <p:cNvSpPr txBox="1"/>
          <p:nvPr/>
        </p:nvSpPr>
        <p:spPr>
          <a:xfrm>
            <a:off x="1028700" y="233859"/>
            <a:ext cx="16300024" cy="1085850"/>
          </a:xfrm>
          <a:prstGeom prst="rect">
            <a:avLst/>
          </a:prstGeom>
        </p:spPr>
        <p:txBody>
          <a:bodyPr lIns="0" tIns="0" rIns="0" bIns="0" rtlCol="0" anchor="t">
            <a:spAutoFit/>
          </a:bodyPr>
          <a:lstStyle/>
          <a:p>
            <a:pPr marL="0" lvl="0" indent="0" algn="ctr">
              <a:lnSpc>
                <a:spcPts val="8541"/>
              </a:lnSpc>
              <a:spcBef>
                <a:spcPct val="0"/>
              </a:spcBef>
            </a:pPr>
            <a:r>
              <a:rPr lang="en-US" sz="7118" spc="-363">
                <a:solidFill>
                  <a:srgbClr val="F0F6F5"/>
                </a:solidFill>
                <a:latin typeface="Mokoto"/>
                <a:ea typeface="Mokoto"/>
                <a:cs typeface="Mokoto"/>
                <a:sym typeface="Mokoto"/>
              </a:rPr>
              <a:t>riesgos</a:t>
            </a:r>
          </a:p>
        </p:txBody>
      </p:sp>
      <p:sp>
        <p:nvSpPr>
          <p:cNvPr id="10" name="TextBox 10"/>
          <p:cNvSpPr txBox="1"/>
          <p:nvPr/>
        </p:nvSpPr>
        <p:spPr>
          <a:xfrm>
            <a:off x="7184545" y="5967598"/>
            <a:ext cx="10376326" cy="3234690"/>
          </a:xfrm>
          <a:prstGeom prst="rect">
            <a:avLst/>
          </a:prstGeom>
        </p:spPr>
        <p:txBody>
          <a:bodyPr lIns="0" tIns="0" rIns="0" bIns="0" rtlCol="0" anchor="t">
            <a:spAutoFit/>
          </a:bodyPr>
          <a:lstStyle/>
          <a:p>
            <a:pPr algn="l">
              <a:lnSpc>
                <a:spcPts val="2339"/>
              </a:lnSpc>
            </a:pPr>
            <a:r>
              <a:rPr lang="en-US" sz="1799" b="1" spc="95" dirty="0">
                <a:solidFill>
                  <a:srgbClr val="000000"/>
                </a:solidFill>
                <a:latin typeface="Canva Sans Bold"/>
                <a:ea typeface="Canva Sans Bold"/>
                <a:cs typeface="Canva Sans Bold"/>
                <a:sym typeface="Canva Sans Bold"/>
              </a:rPr>
              <a:t>LA EVALUACIÓN PERMITE PRIORIZAR LOS RIESGOS QUE PUEDEN AFECTAR LA CONTINUIDAD, SEGURIDAD Y CONFIABILIDAD DE DATABRIDGE. SEGÚN EL NPR, DESTACAN LA PÉRDIDA DE DATOS, LA DESACTUALIZACIÓN DE PARÁMETROS FINANCIEROS, EL FRAUDE EN PAGOS Y LA FALTA DE EVIDENCIAS DEL PROYECTO.</a:t>
            </a:r>
          </a:p>
          <a:p>
            <a:pPr algn="l">
              <a:lnSpc>
                <a:spcPts val="2339"/>
              </a:lnSpc>
            </a:pPr>
            <a:endParaRPr lang="en-US" sz="1799" b="1" spc="95" dirty="0">
              <a:solidFill>
                <a:srgbClr val="000000"/>
              </a:solidFill>
              <a:latin typeface="Canva Sans Bold"/>
              <a:ea typeface="Canva Sans Bold"/>
              <a:cs typeface="Canva Sans Bold"/>
              <a:sym typeface="Canva Sans Bold"/>
            </a:endParaRPr>
          </a:p>
          <a:p>
            <a:pPr algn="l">
              <a:lnSpc>
                <a:spcPts val="2339"/>
              </a:lnSpc>
            </a:pPr>
            <a:r>
              <a:rPr lang="en-US" sz="1799" b="1" spc="95" dirty="0">
                <a:solidFill>
                  <a:srgbClr val="000000"/>
                </a:solidFill>
                <a:latin typeface="Canva Sans Bold"/>
                <a:ea typeface="Canva Sans Bold"/>
                <a:cs typeface="Canva Sans Bold"/>
                <a:sym typeface="Canva Sans Bold"/>
              </a:rPr>
              <a:t>Como </a:t>
            </a:r>
            <a:r>
              <a:rPr lang="en-US" sz="1799" b="1" spc="95" dirty="0" err="1">
                <a:solidFill>
                  <a:srgbClr val="000000"/>
                </a:solidFill>
                <a:latin typeface="Canva Sans Bold"/>
                <a:ea typeface="Canva Sans Bold"/>
                <a:cs typeface="Canva Sans Bold"/>
                <a:sym typeface="Canva Sans Bold"/>
              </a:rPr>
              <a:t>medidas</a:t>
            </a:r>
            <a:r>
              <a:rPr lang="en-US" sz="1799" b="1" spc="95" dirty="0">
                <a:solidFill>
                  <a:srgbClr val="000000"/>
                </a:solidFill>
                <a:latin typeface="Canva Sans Bold"/>
                <a:ea typeface="Canva Sans Bold"/>
                <a:cs typeface="Canva Sans Bold"/>
                <a:sym typeface="Canva Sans Bold"/>
              </a:rPr>
              <a:t> de </a:t>
            </a:r>
            <a:r>
              <a:rPr lang="en-US" sz="1799" b="1" spc="95" dirty="0" err="1">
                <a:solidFill>
                  <a:srgbClr val="000000"/>
                </a:solidFill>
                <a:latin typeface="Canva Sans Bold"/>
                <a:ea typeface="Canva Sans Bold"/>
                <a:cs typeface="Canva Sans Bold"/>
                <a:sym typeface="Canva Sans Bold"/>
              </a:rPr>
              <a:t>mitigación</a:t>
            </a:r>
            <a:r>
              <a:rPr lang="en-US" sz="1799" b="1" spc="95" dirty="0">
                <a:solidFill>
                  <a:srgbClr val="000000"/>
                </a:solidFill>
                <a:latin typeface="Canva Sans Bold"/>
                <a:ea typeface="Canva Sans Bold"/>
                <a:cs typeface="Canva Sans Bold"/>
                <a:sym typeface="Canva Sans Bold"/>
              </a:rPr>
              <a:t>, se </a:t>
            </a:r>
            <a:r>
              <a:rPr lang="en-US" sz="1799" b="1" spc="95" dirty="0" err="1">
                <a:solidFill>
                  <a:srgbClr val="000000"/>
                </a:solidFill>
                <a:latin typeface="Canva Sans Bold"/>
                <a:ea typeface="Canva Sans Bold"/>
                <a:cs typeface="Canva Sans Bold"/>
                <a:sym typeface="Canva Sans Bold"/>
              </a:rPr>
              <a:t>proponen</a:t>
            </a:r>
            <a:r>
              <a:rPr lang="en-US" sz="1799" b="1" spc="95" dirty="0">
                <a:solidFill>
                  <a:srgbClr val="000000"/>
                </a:solidFill>
                <a:latin typeface="Canva Sans Bold"/>
                <a:ea typeface="Canva Sans Bold"/>
                <a:cs typeface="Canva Sans Bold"/>
                <a:sym typeface="Canva Sans Bold"/>
              </a:rPr>
              <a:t> </a:t>
            </a:r>
            <a:r>
              <a:rPr lang="en-US" sz="1799" b="1" spc="95" dirty="0" err="1">
                <a:solidFill>
                  <a:srgbClr val="000000"/>
                </a:solidFill>
                <a:latin typeface="Canva Sans Bold"/>
                <a:ea typeface="Canva Sans Bold"/>
                <a:cs typeface="Canva Sans Bold"/>
                <a:sym typeface="Canva Sans Bold"/>
              </a:rPr>
              <a:t>respaldos</a:t>
            </a:r>
            <a:r>
              <a:rPr lang="en-US" sz="1799" b="1" spc="95" dirty="0">
                <a:solidFill>
                  <a:srgbClr val="000000"/>
                </a:solidFill>
                <a:latin typeface="Canva Sans Bold"/>
                <a:ea typeface="Canva Sans Bold"/>
                <a:cs typeface="Canva Sans Bold"/>
                <a:sym typeface="Canva Sans Bold"/>
              </a:rPr>
              <a:t> </a:t>
            </a:r>
            <a:r>
              <a:rPr lang="en-US" sz="1799" b="1" spc="95" dirty="0" err="1">
                <a:solidFill>
                  <a:srgbClr val="000000"/>
                </a:solidFill>
                <a:latin typeface="Canva Sans Bold"/>
                <a:ea typeface="Canva Sans Bold"/>
                <a:cs typeface="Canva Sans Bold"/>
                <a:sym typeface="Canva Sans Bold"/>
              </a:rPr>
              <a:t>periódicos</a:t>
            </a:r>
            <a:r>
              <a:rPr lang="en-US" sz="1799" b="1" spc="95" dirty="0">
                <a:solidFill>
                  <a:srgbClr val="000000"/>
                </a:solidFill>
                <a:latin typeface="Canva Sans Bold"/>
                <a:ea typeface="Canva Sans Bold"/>
                <a:cs typeface="Canva Sans Bold"/>
                <a:sym typeface="Canva Sans Bold"/>
              </a:rPr>
              <a:t>, </a:t>
            </a:r>
            <a:r>
              <a:rPr lang="en-US" sz="1799" b="1" spc="95" dirty="0" err="1">
                <a:solidFill>
                  <a:srgbClr val="000000"/>
                </a:solidFill>
                <a:latin typeface="Canva Sans Bold"/>
                <a:ea typeface="Canva Sans Bold"/>
                <a:cs typeface="Canva Sans Bold"/>
                <a:sym typeface="Canva Sans Bold"/>
              </a:rPr>
              <a:t>verificación</a:t>
            </a:r>
            <a:r>
              <a:rPr lang="en-US" sz="1799" b="1" spc="95" dirty="0">
                <a:solidFill>
                  <a:srgbClr val="000000"/>
                </a:solidFill>
                <a:latin typeface="Canva Sans Bold"/>
                <a:ea typeface="Canva Sans Bold"/>
                <a:cs typeface="Canva Sans Bold"/>
                <a:sym typeface="Canva Sans Bold"/>
              </a:rPr>
              <a:t> de </a:t>
            </a:r>
            <a:r>
              <a:rPr lang="en-US" sz="1799" b="1" spc="95" dirty="0" err="1">
                <a:solidFill>
                  <a:srgbClr val="000000"/>
                </a:solidFill>
                <a:latin typeface="Canva Sans Bold"/>
                <a:ea typeface="Canva Sans Bold"/>
                <a:cs typeface="Canva Sans Bold"/>
                <a:sym typeface="Canva Sans Bold"/>
              </a:rPr>
              <a:t>pagos</a:t>
            </a:r>
            <a:r>
              <a:rPr lang="en-US" sz="1799" b="1" spc="95" dirty="0">
                <a:solidFill>
                  <a:srgbClr val="000000"/>
                </a:solidFill>
                <a:latin typeface="Canva Sans Bold"/>
                <a:ea typeface="Canva Sans Bold"/>
                <a:cs typeface="Canva Sans Bold"/>
                <a:sym typeface="Canva Sans Bold"/>
              </a:rPr>
              <a:t>, </a:t>
            </a:r>
            <a:r>
              <a:rPr lang="en-US" sz="1799" b="1" spc="95" dirty="0" err="1">
                <a:solidFill>
                  <a:srgbClr val="000000"/>
                </a:solidFill>
                <a:latin typeface="Canva Sans Bold"/>
                <a:ea typeface="Canva Sans Bold"/>
                <a:cs typeface="Canva Sans Bold"/>
                <a:sym typeface="Canva Sans Bold"/>
              </a:rPr>
              <a:t>revisión</a:t>
            </a:r>
            <a:r>
              <a:rPr lang="en-US" sz="1799" b="1" spc="95" dirty="0">
                <a:solidFill>
                  <a:srgbClr val="000000"/>
                </a:solidFill>
                <a:latin typeface="Canva Sans Bold"/>
                <a:ea typeface="Canva Sans Bold"/>
                <a:cs typeface="Canva Sans Bold"/>
                <a:sym typeface="Canva Sans Bold"/>
              </a:rPr>
              <a:t> de </a:t>
            </a:r>
            <a:r>
              <a:rPr lang="en-US" sz="1799" b="1" spc="95" dirty="0" err="1">
                <a:solidFill>
                  <a:srgbClr val="000000"/>
                </a:solidFill>
                <a:latin typeface="Canva Sans Bold"/>
                <a:ea typeface="Canva Sans Bold"/>
                <a:cs typeface="Canva Sans Bold"/>
                <a:sym typeface="Canva Sans Bold"/>
              </a:rPr>
              <a:t>parámetros</a:t>
            </a:r>
            <a:r>
              <a:rPr lang="en-US" sz="1799" b="1" spc="95" dirty="0">
                <a:solidFill>
                  <a:srgbClr val="000000"/>
                </a:solidFill>
                <a:latin typeface="Canva Sans Bold"/>
                <a:ea typeface="Canva Sans Bold"/>
                <a:cs typeface="Canva Sans Bold"/>
                <a:sym typeface="Canva Sans Bold"/>
              </a:rPr>
              <a:t> y </a:t>
            </a:r>
            <a:r>
              <a:rPr lang="en-US" sz="1799" b="1" spc="95" dirty="0" err="1">
                <a:solidFill>
                  <a:srgbClr val="000000"/>
                </a:solidFill>
                <a:latin typeface="Canva Sans Bold"/>
                <a:ea typeface="Canva Sans Bold"/>
                <a:cs typeface="Canva Sans Bold"/>
                <a:sym typeface="Canva Sans Bold"/>
              </a:rPr>
              <a:t>organización</a:t>
            </a:r>
            <a:r>
              <a:rPr lang="en-US" sz="1799" b="1" spc="95" dirty="0">
                <a:solidFill>
                  <a:srgbClr val="000000"/>
                </a:solidFill>
                <a:latin typeface="Canva Sans Bold"/>
                <a:ea typeface="Canva Sans Bold"/>
                <a:cs typeface="Canva Sans Bold"/>
                <a:sym typeface="Canva Sans Bold"/>
              </a:rPr>
              <a:t> de la </a:t>
            </a:r>
            <a:r>
              <a:rPr lang="en-US" sz="1799" b="1" spc="95" dirty="0" err="1">
                <a:solidFill>
                  <a:srgbClr val="000000"/>
                </a:solidFill>
                <a:latin typeface="Canva Sans Bold"/>
                <a:ea typeface="Canva Sans Bold"/>
                <a:cs typeface="Canva Sans Bold"/>
                <a:sym typeface="Canva Sans Bold"/>
              </a:rPr>
              <a:t>documentación</a:t>
            </a:r>
            <a:r>
              <a:rPr lang="en-US" sz="1799" b="1" spc="95" dirty="0">
                <a:solidFill>
                  <a:srgbClr val="000000"/>
                </a:solidFill>
                <a:latin typeface="Canva Sans Bold"/>
                <a:ea typeface="Canva Sans Bold"/>
                <a:cs typeface="Canva Sans Bold"/>
                <a:sym typeface="Canva Sans Bold"/>
              </a:rPr>
              <a:t>. Los </a:t>
            </a:r>
            <a:r>
              <a:rPr lang="en-US" sz="1799" b="1" spc="95" dirty="0" err="1">
                <a:solidFill>
                  <a:srgbClr val="000000"/>
                </a:solidFill>
                <a:latin typeface="Canva Sans Bold"/>
                <a:ea typeface="Canva Sans Bold"/>
                <a:cs typeface="Canva Sans Bold"/>
                <a:sym typeface="Canva Sans Bold"/>
              </a:rPr>
              <a:t>riesgos</a:t>
            </a:r>
            <a:r>
              <a:rPr lang="en-US" sz="1799" b="1" spc="95" dirty="0">
                <a:solidFill>
                  <a:srgbClr val="000000"/>
                </a:solidFill>
                <a:latin typeface="Canva Sans Bold"/>
                <a:ea typeface="Canva Sans Bold"/>
                <a:cs typeface="Canva Sans Bold"/>
                <a:sym typeface="Canva Sans Bold"/>
              </a:rPr>
              <a:t> </a:t>
            </a:r>
            <a:r>
              <a:rPr lang="en-US" sz="1799" b="1" spc="95" dirty="0" err="1">
                <a:solidFill>
                  <a:srgbClr val="000000"/>
                </a:solidFill>
                <a:latin typeface="Canva Sans Bold"/>
                <a:ea typeface="Canva Sans Bold"/>
                <a:cs typeface="Canva Sans Bold"/>
                <a:sym typeface="Canva Sans Bold"/>
              </a:rPr>
              <a:t>deben</a:t>
            </a:r>
            <a:r>
              <a:rPr lang="en-US" sz="1799" b="1" spc="95" dirty="0">
                <a:solidFill>
                  <a:srgbClr val="000000"/>
                </a:solidFill>
                <a:latin typeface="Canva Sans Bold"/>
                <a:ea typeface="Canva Sans Bold"/>
                <a:cs typeface="Canva Sans Bold"/>
                <a:sym typeface="Canva Sans Bold"/>
              </a:rPr>
              <a:t> </a:t>
            </a:r>
            <a:r>
              <a:rPr lang="en-US" sz="1799" b="1" spc="95" dirty="0" err="1">
                <a:solidFill>
                  <a:srgbClr val="000000"/>
                </a:solidFill>
                <a:latin typeface="Canva Sans Bold"/>
                <a:ea typeface="Canva Sans Bold"/>
                <a:cs typeface="Canva Sans Bold"/>
                <a:sym typeface="Canva Sans Bold"/>
              </a:rPr>
              <a:t>revisarse</a:t>
            </a:r>
            <a:r>
              <a:rPr lang="en-US" sz="1799" b="1" spc="95" dirty="0">
                <a:solidFill>
                  <a:srgbClr val="000000"/>
                </a:solidFill>
                <a:latin typeface="Canva Sans Bold"/>
                <a:ea typeface="Canva Sans Bold"/>
                <a:cs typeface="Canva Sans Bold"/>
                <a:sym typeface="Canva Sans Bold"/>
              </a:rPr>
              <a:t> </a:t>
            </a:r>
            <a:r>
              <a:rPr lang="en-US" sz="1799" b="1" spc="95" dirty="0" err="1">
                <a:solidFill>
                  <a:srgbClr val="000000"/>
                </a:solidFill>
                <a:latin typeface="Canva Sans Bold"/>
                <a:ea typeface="Canva Sans Bold"/>
                <a:cs typeface="Canva Sans Bold"/>
                <a:sym typeface="Canva Sans Bold"/>
              </a:rPr>
              <a:t>durante</a:t>
            </a:r>
            <a:r>
              <a:rPr lang="en-US" sz="1799" b="1" spc="95" dirty="0">
                <a:solidFill>
                  <a:srgbClr val="000000"/>
                </a:solidFill>
                <a:latin typeface="Canva Sans Bold"/>
                <a:ea typeface="Canva Sans Bold"/>
                <a:cs typeface="Canva Sans Bold"/>
                <a:sym typeface="Canva Sans Bold"/>
              </a:rPr>
              <a:t> </a:t>
            </a:r>
            <a:r>
              <a:rPr lang="en-US" sz="1799" b="1" spc="95" dirty="0" err="1">
                <a:solidFill>
                  <a:srgbClr val="000000"/>
                </a:solidFill>
                <a:latin typeface="Canva Sans Bold"/>
                <a:ea typeface="Canva Sans Bold"/>
                <a:cs typeface="Canva Sans Bold"/>
                <a:sym typeface="Canva Sans Bold"/>
              </a:rPr>
              <a:t>cada</a:t>
            </a:r>
            <a:r>
              <a:rPr lang="en-US" sz="1799" b="1" spc="95" dirty="0">
                <a:solidFill>
                  <a:srgbClr val="000000"/>
                </a:solidFill>
                <a:latin typeface="Canva Sans Bold"/>
                <a:ea typeface="Canva Sans Bold"/>
                <a:cs typeface="Canva Sans Bold"/>
                <a:sym typeface="Canva Sans Bold"/>
              </a:rPr>
              <a:t> </a:t>
            </a:r>
            <a:r>
              <a:rPr lang="en-US" sz="1799" b="1" spc="95" dirty="0" err="1">
                <a:solidFill>
                  <a:srgbClr val="000000"/>
                </a:solidFill>
                <a:latin typeface="Canva Sans Bold"/>
                <a:ea typeface="Canva Sans Bold"/>
                <a:cs typeface="Canva Sans Bold"/>
                <a:sym typeface="Canva Sans Bold"/>
              </a:rPr>
              <a:t>iteración</a:t>
            </a:r>
            <a:r>
              <a:rPr lang="en-US" sz="1799" b="1" spc="95" dirty="0">
                <a:solidFill>
                  <a:srgbClr val="000000"/>
                </a:solidFill>
                <a:latin typeface="Canva Sans Bold"/>
                <a:ea typeface="Canva Sans Bold"/>
                <a:cs typeface="Canva Sans Bold"/>
                <a:sym typeface="Canva Sans Bold"/>
              </a:rPr>
              <a:t> para </a:t>
            </a:r>
            <a:r>
              <a:rPr lang="en-US" sz="1799" b="1" spc="95" dirty="0" err="1">
                <a:solidFill>
                  <a:srgbClr val="000000"/>
                </a:solidFill>
                <a:latin typeface="Canva Sans Bold"/>
                <a:ea typeface="Canva Sans Bold"/>
                <a:cs typeface="Canva Sans Bold"/>
                <a:sym typeface="Canva Sans Bold"/>
              </a:rPr>
              <a:t>actualizar</a:t>
            </a:r>
            <a:r>
              <a:rPr lang="en-US" sz="1799" b="1" spc="95" dirty="0">
                <a:solidFill>
                  <a:srgbClr val="000000"/>
                </a:solidFill>
                <a:latin typeface="Canva Sans Bold"/>
                <a:ea typeface="Canva Sans Bold"/>
                <a:cs typeface="Canva Sans Bold"/>
                <a:sym typeface="Canva Sans Bold"/>
              </a:rPr>
              <a:t> </a:t>
            </a:r>
            <a:r>
              <a:rPr lang="en-US" sz="1799" b="1" spc="95" dirty="0" err="1">
                <a:solidFill>
                  <a:srgbClr val="000000"/>
                </a:solidFill>
                <a:latin typeface="Canva Sans Bold"/>
                <a:ea typeface="Canva Sans Bold"/>
                <a:cs typeface="Canva Sans Bold"/>
                <a:sym typeface="Canva Sans Bold"/>
              </a:rPr>
              <a:t>su</a:t>
            </a:r>
            <a:r>
              <a:rPr lang="en-US" sz="1799" b="1" spc="95" dirty="0">
                <a:solidFill>
                  <a:srgbClr val="000000"/>
                </a:solidFill>
                <a:latin typeface="Canva Sans Bold"/>
                <a:ea typeface="Canva Sans Bold"/>
                <a:cs typeface="Canva Sans Bold"/>
                <a:sym typeface="Canva Sans Bold"/>
              </a:rPr>
              <a:t> </a:t>
            </a:r>
            <a:r>
              <a:rPr lang="en-US" sz="1799" b="1" spc="95" dirty="0" err="1">
                <a:solidFill>
                  <a:srgbClr val="000000"/>
                </a:solidFill>
                <a:latin typeface="Canva Sans Bold"/>
                <a:ea typeface="Canva Sans Bold"/>
                <a:cs typeface="Canva Sans Bold"/>
                <a:sym typeface="Canva Sans Bold"/>
              </a:rPr>
              <a:t>valoración</a:t>
            </a:r>
            <a:r>
              <a:rPr lang="en-US" sz="1799" b="1" spc="95" dirty="0">
                <a:solidFill>
                  <a:srgbClr val="000000"/>
                </a:solidFill>
                <a:latin typeface="Canva Sans Bold"/>
                <a:ea typeface="Canva Sans Bold"/>
                <a:cs typeface="Canva Sans Bold"/>
                <a:sym typeface="Canva Sans Bold"/>
              </a:rPr>
              <a:t> y </a:t>
            </a:r>
            <a:r>
              <a:rPr lang="en-US" sz="1799" b="1" spc="95" dirty="0" err="1">
                <a:solidFill>
                  <a:srgbClr val="000000"/>
                </a:solidFill>
                <a:latin typeface="Canva Sans Bold"/>
                <a:ea typeface="Canva Sans Bold"/>
                <a:cs typeface="Canva Sans Bold"/>
                <a:sym typeface="Canva Sans Bold"/>
              </a:rPr>
              <a:t>dar</a:t>
            </a:r>
            <a:r>
              <a:rPr lang="en-US" sz="1799" b="1" spc="95" dirty="0">
                <a:solidFill>
                  <a:srgbClr val="000000"/>
                </a:solidFill>
                <a:latin typeface="Canva Sans Bold"/>
                <a:ea typeface="Canva Sans Bold"/>
                <a:cs typeface="Canva Sans Bold"/>
                <a:sym typeface="Canva Sans Bold"/>
              </a:rPr>
              <a:t> </a:t>
            </a:r>
            <a:r>
              <a:rPr lang="en-US" sz="1799" b="1" spc="95" dirty="0" err="1">
                <a:solidFill>
                  <a:srgbClr val="000000"/>
                </a:solidFill>
                <a:latin typeface="Canva Sans Bold"/>
                <a:ea typeface="Canva Sans Bold"/>
                <a:cs typeface="Canva Sans Bold"/>
                <a:sym typeface="Canva Sans Bold"/>
              </a:rPr>
              <a:t>seguimiento</a:t>
            </a:r>
            <a:r>
              <a:rPr lang="en-US" sz="1799" b="1" spc="95" dirty="0">
                <a:solidFill>
                  <a:srgbClr val="000000"/>
                </a:solidFill>
                <a:latin typeface="Canva Sans Bold"/>
                <a:ea typeface="Canva Sans Bold"/>
                <a:cs typeface="Canva Sans Bold"/>
                <a:sym typeface="Canva Sans Bold"/>
              </a:rPr>
              <a:t> a las </a:t>
            </a:r>
            <a:r>
              <a:rPr lang="en-US" sz="1799" b="1" spc="95" dirty="0" err="1">
                <a:solidFill>
                  <a:srgbClr val="000000"/>
                </a:solidFill>
                <a:latin typeface="Canva Sans Bold"/>
                <a:ea typeface="Canva Sans Bold"/>
                <a:cs typeface="Canva Sans Bold"/>
                <a:sym typeface="Canva Sans Bold"/>
              </a:rPr>
              <a:t>acciones</a:t>
            </a:r>
            <a:r>
              <a:rPr lang="en-US" sz="1799" b="1" spc="95" dirty="0">
                <a:solidFill>
                  <a:srgbClr val="000000"/>
                </a:solidFill>
                <a:latin typeface="Canva Sans Bold"/>
                <a:ea typeface="Canva Sans Bold"/>
                <a:cs typeface="Canva Sans Bold"/>
                <a:sym typeface="Canva Sans Bold"/>
              </a:rPr>
              <a:t>.</a:t>
            </a:r>
          </a:p>
          <a:p>
            <a:pPr algn="l">
              <a:lnSpc>
                <a:spcPts val="2339"/>
              </a:lnSpc>
            </a:pPr>
            <a:endParaRPr lang="en-US" sz="1799" b="1" spc="95" dirty="0">
              <a:solidFill>
                <a:srgbClr val="000000"/>
              </a:solidFill>
              <a:latin typeface="Canva Sans Bold"/>
              <a:ea typeface="Canva Sans Bold"/>
              <a:cs typeface="Canva Sans Bold"/>
              <a:sym typeface="Canva Sans Bold"/>
            </a:endParaRPr>
          </a:p>
          <a:p>
            <a:pPr algn="l">
              <a:lnSpc>
                <a:spcPts val="2339"/>
              </a:lnSpc>
              <a:spcBef>
                <a:spcPct val="0"/>
              </a:spcBef>
            </a:pPr>
            <a:r>
              <a:rPr lang="en-US" sz="1799" b="1" spc="95" dirty="0">
                <a:solidFill>
                  <a:srgbClr val="000000"/>
                </a:solidFill>
                <a:latin typeface="Canva Sans Bold"/>
                <a:ea typeface="Canva Sans Bold"/>
                <a:cs typeface="Canva Sans Bold"/>
                <a:sym typeface="Canva Sans Bold"/>
              </a:rPr>
              <a:t>SE UTILIZAN LAS ESCALAS NPR Y CRITICIDAD</a:t>
            </a:r>
          </a:p>
        </p:txBody>
      </p:sp>
    </p:spTree>
  </p:cSld>
  <p:clrMapOvr>
    <a:masterClrMapping/>
  </p:clrMapOvr>
  <p:transition>
    <p:push/>
  </p:transition>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0F6F5"/>
        </a:solidFill>
        <a:effectLst/>
      </p:bgPr>
    </p:bg>
    <p:spTree>
      <p:nvGrpSpPr>
        <p:cNvPr id="1" name=""/>
        <p:cNvGrpSpPr/>
        <p:nvPr/>
      </p:nvGrpSpPr>
      <p:grpSpPr>
        <a:xfrm>
          <a:off x="0" y="0"/>
          <a:ext cx="0" cy="0"/>
          <a:chOff x="0" y="0"/>
          <a:chExt cx="0" cy="0"/>
        </a:xfrm>
      </p:grpSpPr>
      <p:sp>
        <p:nvSpPr>
          <p:cNvPr id="2" name="Freeform 2"/>
          <p:cNvSpPr/>
          <p:nvPr/>
        </p:nvSpPr>
        <p:spPr>
          <a:xfrm>
            <a:off x="0" y="5595804"/>
            <a:ext cx="9507197" cy="4071950"/>
          </a:xfrm>
          <a:custGeom>
            <a:avLst/>
            <a:gdLst/>
            <a:ahLst/>
            <a:cxnLst/>
            <a:rect l="l" t="t" r="r" b="b"/>
            <a:pathLst>
              <a:path w="9507197" h="4071950">
                <a:moveTo>
                  <a:pt x="0" y="0"/>
                </a:moveTo>
                <a:lnTo>
                  <a:pt x="9507197" y="0"/>
                </a:lnTo>
                <a:lnTo>
                  <a:pt x="9507197" y="4071950"/>
                </a:lnTo>
                <a:lnTo>
                  <a:pt x="0" y="4071950"/>
                </a:lnTo>
                <a:lnTo>
                  <a:pt x="0" y="0"/>
                </a:lnTo>
                <a:close/>
              </a:path>
            </a:pathLst>
          </a:custGeom>
          <a:blipFill>
            <a:blip r:embed="rId2"/>
            <a:stretch>
              <a:fillRect/>
            </a:stretch>
          </a:blipFill>
        </p:spPr>
        <p:txBody>
          <a:bodyPr/>
          <a:lstStyle/>
          <a:p>
            <a:endParaRPr lang="es-CL"/>
          </a:p>
        </p:txBody>
      </p:sp>
      <p:grpSp>
        <p:nvGrpSpPr>
          <p:cNvPr id="3" name="Group 3"/>
          <p:cNvGrpSpPr/>
          <p:nvPr/>
        </p:nvGrpSpPr>
        <p:grpSpPr>
          <a:xfrm>
            <a:off x="0" y="-273775"/>
            <a:ext cx="18288000" cy="2604951"/>
            <a:chOff x="0" y="0"/>
            <a:chExt cx="4816593" cy="686078"/>
          </a:xfrm>
        </p:grpSpPr>
        <p:sp>
          <p:nvSpPr>
            <p:cNvPr id="4" name="Freeform 4"/>
            <p:cNvSpPr/>
            <p:nvPr/>
          </p:nvSpPr>
          <p:spPr>
            <a:xfrm>
              <a:off x="0" y="0"/>
              <a:ext cx="4816592" cy="686078"/>
            </a:xfrm>
            <a:custGeom>
              <a:avLst/>
              <a:gdLst/>
              <a:ahLst/>
              <a:cxnLst/>
              <a:rect l="l" t="t" r="r" b="b"/>
              <a:pathLst>
                <a:path w="4816592" h="686078">
                  <a:moveTo>
                    <a:pt x="0" y="0"/>
                  </a:moveTo>
                  <a:lnTo>
                    <a:pt x="4816592" y="0"/>
                  </a:lnTo>
                  <a:lnTo>
                    <a:pt x="4816592" y="686078"/>
                  </a:lnTo>
                  <a:lnTo>
                    <a:pt x="0" y="686078"/>
                  </a:lnTo>
                  <a:close/>
                </a:path>
              </a:pathLst>
            </a:custGeom>
            <a:solidFill>
              <a:srgbClr val="4E767D"/>
            </a:solidFill>
          </p:spPr>
          <p:txBody>
            <a:bodyPr/>
            <a:lstStyle/>
            <a:p>
              <a:endParaRPr lang="es-CL"/>
            </a:p>
          </p:txBody>
        </p:sp>
        <p:sp>
          <p:nvSpPr>
            <p:cNvPr id="5" name="TextBox 5"/>
            <p:cNvSpPr txBox="1"/>
            <p:nvPr/>
          </p:nvSpPr>
          <p:spPr>
            <a:xfrm>
              <a:off x="0" y="-47625"/>
              <a:ext cx="4816593" cy="733703"/>
            </a:xfrm>
            <a:prstGeom prst="rect">
              <a:avLst/>
            </a:prstGeom>
          </p:spPr>
          <p:txBody>
            <a:bodyPr lIns="50800" tIns="50800" rIns="50800" bIns="50800" rtlCol="0" anchor="ctr"/>
            <a:lstStyle/>
            <a:p>
              <a:pPr algn="ctr">
                <a:lnSpc>
                  <a:spcPts val="3174"/>
                </a:lnSpc>
              </a:pPr>
              <a:endParaRPr/>
            </a:p>
          </p:txBody>
        </p:sp>
      </p:grpSp>
      <p:sp>
        <p:nvSpPr>
          <p:cNvPr id="6" name="Freeform 6"/>
          <p:cNvSpPr/>
          <p:nvPr/>
        </p:nvSpPr>
        <p:spPr>
          <a:xfrm>
            <a:off x="379040" y="2591904"/>
            <a:ext cx="8749117" cy="2578197"/>
          </a:xfrm>
          <a:custGeom>
            <a:avLst/>
            <a:gdLst/>
            <a:ahLst/>
            <a:cxnLst/>
            <a:rect l="l" t="t" r="r" b="b"/>
            <a:pathLst>
              <a:path w="8749117" h="2578197">
                <a:moveTo>
                  <a:pt x="0" y="0"/>
                </a:moveTo>
                <a:lnTo>
                  <a:pt x="8749117" y="0"/>
                </a:lnTo>
                <a:lnTo>
                  <a:pt x="8749117" y="2578197"/>
                </a:lnTo>
                <a:lnTo>
                  <a:pt x="0" y="2578197"/>
                </a:lnTo>
                <a:lnTo>
                  <a:pt x="0" y="0"/>
                </a:lnTo>
                <a:close/>
              </a:path>
            </a:pathLst>
          </a:custGeom>
          <a:blipFill>
            <a:blip r:embed="rId3"/>
            <a:stretch>
              <a:fillRect/>
            </a:stretch>
          </a:blipFill>
        </p:spPr>
        <p:txBody>
          <a:bodyPr/>
          <a:lstStyle/>
          <a:p>
            <a:endParaRPr lang="es-CL"/>
          </a:p>
        </p:txBody>
      </p:sp>
      <p:sp>
        <p:nvSpPr>
          <p:cNvPr id="7" name="TextBox 7"/>
          <p:cNvSpPr txBox="1"/>
          <p:nvPr/>
        </p:nvSpPr>
        <p:spPr>
          <a:xfrm>
            <a:off x="3770003" y="1076978"/>
            <a:ext cx="11180598" cy="1086300"/>
          </a:xfrm>
          <a:prstGeom prst="rect">
            <a:avLst/>
          </a:prstGeom>
        </p:spPr>
        <p:txBody>
          <a:bodyPr lIns="0" tIns="0" rIns="0" bIns="0" rtlCol="0" anchor="t">
            <a:spAutoFit/>
          </a:bodyPr>
          <a:lstStyle/>
          <a:p>
            <a:pPr algn="l">
              <a:lnSpc>
                <a:spcPts val="8743"/>
              </a:lnSpc>
            </a:pPr>
            <a:r>
              <a:rPr lang="en-US" sz="6476" spc="-544">
                <a:solidFill>
                  <a:srgbClr val="F0F6F5"/>
                </a:solidFill>
                <a:latin typeface="Mokoto"/>
                <a:ea typeface="Mokoto"/>
                <a:cs typeface="Mokoto"/>
                <a:sym typeface="Mokoto"/>
              </a:rPr>
              <a:t>Modelo de negocio</a:t>
            </a:r>
          </a:p>
        </p:txBody>
      </p:sp>
      <p:sp>
        <p:nvSpPr>
          <p:cNvPr id="8" name="TextBox 8"/>
          <p:cNvSpPr txBox="1"/>
          <p:nvPr/>
        </p:nvSpPr>
        <p:spPr>
          <a:xfrm>
            <a:off x="9507197" y="3778106"/>
            <a:ext cx="8464453" cy="1499396"/>
          </a:xfrm>
          <a:prstGeom prst="rect">
            <a:avLst/>
          </a:prstGeom>
        </p:spPr>
        <p:txBody>
          <a:bodyPr lIns="0" tIns="0" rIns="0" bIns="0" rtlCol="0" anchor="t">
            <a:spAutoFit/>
          </a:bodyPr>
          <a:lstStyle/>
          <a:p>
            <a:pPr algn="just">
              <a:lnSpc>
                <a:spcPts val="2437"/>
              </a:lnSpc>
            </a:pPr>
            <a:r>
              <a:rPr lang="en-US" sz="1625">
                <a:solidFill>
                  <a:srgbClr val="05061C"/>
                </a:solidFill>
                <a:latin typeface="Canva Sans"/>
                <a:ea typeface="Canva Sans"/>
                <a:cs typeface="Canva Sans"/>
                <a:sym typeface="Canva Sans"/>
              </a:rPr>
              <a:t>En esta etapa se construyo el modelo de negocio basándose en la estructura  matemática representada en  la imagen 1, el cual toma las ganancias mensuales recuperadas por APOFYX ((G)) para determinar el porcentaje de cobro de  DataBridge mediante la función de p(G),estableciendo P(G)  como representante del pago de databridge y G(APOFYX) correspondiente a las ganancias restantes de APOFYX. </a:t>
            </a:r>
          </a:p>
        </p:txBody>
      </p:sp>
      <p:sp>
        <p:nvSpPr>
          <p:cNvPr id="9" name="TextBox 9"/>
          <p:cNvSpPr txBox="1"/>
          <p:nvPr/>
        </p:nvSpPr>
        <p:spPr>
          <a:xfrm>
            <a:off x="9553326" y="3086491"/>
            <a:ext cx="8464453" cy="567753"/>
          </a:xfrm>
          <a:prstGeom prst="rect">
            <a:avLst/>
          </a:prstGeom>
        </p:spPr>
        <p:txBody>
          <a:bodyPr lIns="0" tIns="0" rIns="0" bIns="0" rtlCol="0" anchor="t">
            <a:spAutoFit/>
          </a:bodyPr>
          <a:lstStyle/>
          <a:p>
            <a:pPr marL="0" lvl="0" indent="0" algn="l">
              <a:lnSpc>
                <a:spcPts val="4677"/>
              </a:lnSpc>
              <a:spcBef>
                <a:spcPct val="0"/>
              </a:spcBef>
            </a:pPr>
            <a:r>
              <a:rPr lang="en-US" sz="3341" b="1">
                <a:solidFill>
                  <a:srgbClr val="05061C"/>
                </a:solidFill>
                <a:latin typeface="Canva Sans Bold"/>
                <a:ea typeface="Canva Sans Bold"/>
                <a:cs typeface="Canva Sans Bold"/>
                <a:sym typeface="Canva Sans Bold"/>
              </a:rPr>
              <a:t>01. Fase teórica</a:t>
            </a:r>
          </a:p>
        </p:txBody>
      </p:sp>
      <p:sp>
        <p:nvSpPr>
          <p:cNvPr id="10" name="TextBox 10"/>
          <p:cNvSpPr txBox="1"/>
          <p:nvPr/>
        </p:nvSpPr>
        <p:spPr>
          <a:xfrm>
            <a:off x="9507197" y="6366610"/>
            <a:ext cx="8464453" cy="2089325"/>
          </a:xfrm>
          <a:prstGeom prst="rect">
            <a:avLst/>
          </a:prstGeom>
        </p:spPr>
        <p:txBody>
          <a:bodyPr lIns="0" tIns="0" rIns="0" bIns="0" rtlCol="0" anchor="t">
            <a:spAutoFit/>
          </a:bodyPr>
          <a:lstStyle/>
          <a:p>
            <a:pPr algn="just">
              <a:lnSpc>
                <a:spcPts val="2437"/>
              </a:lnSpc>
            </a:pPr>
            <a:r>
              <a:rPr lang="en-US" sz="1625">
                <a:solidFill>
                  <a:srgbClr val="05061C"/>
                </a:solidFill>
                <a:latin typeface="Canva Sans"/>
                <a:ea typeface="Canva Sans"/>
                <a:cs typeface="Canva Sans"/>
                <a:sym typeface="Canva Sans"/>
              </a:rPr>
              <a:t>La etapa de practica se basa principalmente en implementar el modelo matematico en la plataforma de databridge, incorporando el calculo automatico del porcentaje cobro segun el lasganancias totales recuperadas por APOFYX durante el mes. Para ello, se desarrollo una interfaz que permite seleccionar un periodo mensual, visualizar el monto total recuperado, identificar el tramo porcentual correspondiente  y calcular tanto el pago por uso del producto que recibe DataBridge como la ganancia restante para APOFYX.</a:t>
            </a:r>
          </a:p>
        </p:txBody>
      </p:sp>
      <p:sp>
        <p:nvSpPr>
          <p:cNvPr id="11" name="TextBox 11"/>
          <p:cNvSpPr txBox="1"/>
          <p:nvPr/>
        </p:nvSpPr>
        <p:spPr>
          <a:xfrm>
            <a:off x="9507197" y="5670698"/>
            <a:ext cx="8556712" cy="567753"/>
          </a:xfrm>
          <a:prstGeom prst="rect">
            <a:avLst/>
          </a:prstGeom>
        </p:spPr>
        <p:txBody>
          <a:bodyPr lIns="0" tIns="0" rIns="0" bIns="0" rtlCol="0" anchor="t">
            <a:spAutoFit/>
          </a:bodyPr>
          <a:lstStyle/>
          <a:p>
            <a:pPr marL="0" lvl="0" indent="0" algn="l">
              <a:lnSpc>
                <a:spcPts val="4677"/>
              </a:lnSpc>
              <a:spcBef>
                <a:spcPct val="0"/>
              </a:spcBef>
            </a:pPr>
            <a:r>
              <a:rPr lang="en-US" sz="3341" b="1">
                <a:solidFill>
                  <a:srgbClr val="05061C"/>
                </a:solidFill>
                <a:latin typeface="Canva Sans Bold"/>
                <a:ea typeface="Canva Sans Bold"/>
                <a:cs typeface="Canva Sans Bold"/>
                <a:sym typeface="Canva Sans Bold"/>
              </a:rPr>
              <a:t>02. Fase practica</a:t>
            </a:r>
          </a:p>
        </p:txBody>
      </p:sp>
    </p:spTree>
  </p:cSld>
  <p:clrMapOvr>
    <a:masterClrMapping/>
  </p:clrMapOvr>
  <p:transition>
    <p:push/>
  </p:transition>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4E767D"/>
        </a:solidFill>
        <a:effectLst/>
      </p:bgPr>
    </p:bg>
    <p:spTree>
      <p:nvGrpSpPr>
        <p:cNvPr id="1" name=""/>
        <p:cNvGrpSpPr/>
        <p:nvPr/>
      </p:nvGrpSpPr>
      <p:grpSpPr>
        <a:xfrm>
          <a:off x="0" y="0"/>
          <a:ext cx="0" cy="0"/>
          <a:chOff x="0" y="0"/>
          <a:chExt cx="0" cy="0"/>
        </a:xfrm>
      </p:grpSpPr>
      <p:grpSp>
        <p:nvGrpSpPr>
          <p:cNvPr id="2" name="Group 2"/>
          <p:cNvGrpSpPr/>
          <p:nvPr/>
        </p:nvGrpSpPr>
        <p:grpSpPr>
          <a:xfrm>
            <a:off x="1067782" y="777208"/>
            <a:ext cx="16374040" cy="8732583"/>
            <a:chOff x="0" y="0"/>
            <a:chExt cx="4312504" cy="2299940"/>
          </a:xfrm>
        </p:grpSpPr>
        <p:sp>
          <p:nvSpPr>
            <p:cNvPr id="3" name="Freeform 3"/>
            <p:cNvSpPr/>
            <p:nvPr/>
          </p:nvSpPr>
          <p:spPr>
            <a:xfrm>
              <a:off x="0" y="0"/>
              <a:ext cx="4312504" cy="2299940"/>
            </a:xfrm>
            <a:custGeom>
              <a:avLst/>
              <a:gdLst/>
              <a:ahLst/>
              <a:cxnLst/>
              <a:rect l="l" t="t" r="r" b="b"/>
              <a:pathLst>
                <a:path w="4312504" h="2299940">
                  <a:moveTo>
                    <a:pt x="0" y="0"/>
                  </a:moveTo>
                  <a:lnTo>
                    <a:pt x="4312504" y="0"/>
                  </a:lnTo>
                  <a:lnTo>
                    <a:pt x="4312504" y="2299940"/>
                  </a:lnTo>
                  <a:lnTo>
                    <a:pt x="0" y="2299940"/>
                  </a:lnTo>
                  <a:close/>
                </a:path>
              </a:pathLst>
            </a:custGeom>
            <a:solidFill>
              <a:srgbClr val="F0F6F5"/>
            </a:solidFill>
          </p:spPr>
          <p:txBody>
            <a:bodyPr/>
            <a:lstStyle/>
            <a:p>
              <a:endParaRPr lang="es-CL"/>
            </a:p>
          </p:txBody>
        </p:sp>
        <p:sp>
          <p:nvSpPr>
            <p:cNvPr id="4" name="TextBox 4"/>
            <p:cNvSpPr txBox="1"/>
            <p:nvPr/>
          </p:nvSpPr>
          <p:spPr>
            <a:xfrm>
              <a:off x="0" y="-47625"/>
              <a:ext cx="4312504" cy="2347565"/>
            </a:xfrm>
            <a:prstGeom prst="rect">
              <a:avLst/>
            </a:prstGeom>
          </p:spPr>
          <p:txBody>
            <a:bodyPr lIns="50800" tIns="50800" rIns="50800" bIns="50800" rtlCol="0" anchor="ctr"/>
            <a:lstStyle/>
            <a:p>
              <a:pPr algn="ctr">
                <a:lnSpc>
                  <a:spcPts val="3174"/>
                </a:lnSpc>
              </a:pPr>
              <a:endParaRPr/>
            </a:p>
          </p:txBody>
        </p:sp>
      </p:grpSp>
      <p:grpSp>
        <p:nvGrpSpPr>
          <p:cNvPr id="5" name="Group 5"/>
          <p:cNvGrpSpPr/>
          <p:nvPr/>
        </p:nvGrpSpPr>
        <p:grpSpPr>
          <a:xfrm>
            <a:off x="0" y="204743"/>
            <a:ext cx="18288000" cy="2604951"/>
            <a:chOff x="0" y="0"/>
            <a:chExt cx="4816593" cy="686078"/>
          </a:xfrm>
        </p:grpSpPr>
        <p:sp>
          <p:nvSpPr>
            <p:cNvPr id="6" name="Freeform 6"/>
            <p:cNvSpPr/>
            <p:nvPr/>
          </p:nvSpPr>
          <p:spPr>
            <a:xfrm>
              <a:off x="0" y="0"/>
              <a:ext cx="4816592" cy="686078"/>
            </a:xfrm>
            <a:custGeom>
              <a:avLst/>
              <a:gdLst/>
              <a:ahLst/>
              <a:cxnLst/>
              <a:rect l="l" t="t" r="r" b="b"/>
              <a:pathLst>
                <a:path w="4816592" h="686078">
                  <a:moveTo>
                    <a:pt x="0" y="0"/>
                  </a:moveTo>
                  <a:lnTo>
                    <a:pt x="4816592" y="0"/>
                  </a:lnTo>
                  <a:lnTo>
                    <a:pt x="4816592" y="686078"/>
                  </a:lnTo>
                  <a:lnTo>
                    <a:pt x="0" y="686078"/>
                  </a:lnTo>
                  <a:close/>
                </a:path>
              </a:pathLst>
            </a:custGeom>
            <a:solidFill>
              <a:srgbClr val="4E767D"/>
            </a:solidFill>
          </p:spPr>
          <p:txBody>
            <a:bodyPr/>
            <a:lstStyle/>
            <a:p>
              <a:endParaRPr lang="es-CL"/>
            </a:p>
          </p:txBody>
        </p:sp>
        <p:sp>
          <p:nvSpPr>
            <p:cNvPr id="7" name="TextBox 7"/>
            <p:cNvSpPr txBox="1"/>
            <p:nvPr/>
          </p:nvSpPr>
          <p:spPr>
            <a:xfrm>
              <a:off x="0" y="-47625"/>
              <a:ext cx="4816593" cy="733703"/>
            </a:xfrm>
            <a:prstGeom prst="rect">
              <a:avLst/>
            </a:prstGeom>
          </p:spPr>
          <p:txBody>
            <a:bodyPr lIns="50800" tIns="50800" rIns="50800" bIns="50800" rtlCol="0" anchor="ctr"/>
            <a:lstStyle/>
            <a:p>
              <a:pPr algn="ctr">
                <a:lnSpc>
                  <a:spcPts val="3174"/>
                </a:lnSpc>
              </a:pPr>
              <a:endParaRPr/>
            </a:p>
          </p:txBody>
        </p:sp>
      </p:grpSp>
      <p:sp>
        <p:nvSpPr>
          <p:cNvPr id="8" name="Freeform 8"/>
          <p:cNvSpPr/>
          <p:nvPr/>
        </p:nvSpPr>
        <p:spPr>
          <a:xfrm rot="-10800000" flipH="1">
            <a:off x="13683790" y="204743"/>
            <a:ext cx="9015621" cy="2369915"/>
          </a:xfrm>
          <a:custGeom>
            <a:avLst/>
            <a:gdLst/>
            <a:ahLst/>
            <a:cxnLst/>
            <a:rect l="l" t="t" r="r" b="b"/>
            <a:pathLst>
              <a:path w="9015621" h="2369915">
                <a:moveTo>
                  <a:pt x="9015621" y="0"/>
                </a:moveTo>
                <a:lnTo>
                  <a:pt x="0" y="0"/>
                </a:lnTo>
                <a:lnTo>
                  <a:pt x="0" y="2369915"/>
                </a:lnTo>
                <a:lnTo>
                  <a:pt x="9015621" y="2369915"/>
                </a:lnTo>
                <a:lnTo>
                  <a:pt x="9015621" y="0"/>
                </a:lnTo>
                <a:close/>
              </a:path>
            </a:pathLst>
          </a:custGeom>
          <a:blipFill>
            <a:blip>
              <a:alphaModFix amt="38000"/>
              <a:extLst>
                <a:ext uri="{96DAC541-7B7A-43D3-8B79-37D633B846F1}">
                  <asvg:svgBlip xmlns:asvg="http://schemas.microsoft.com/office/drawing/2016/SVG/main" r:embed="rId2"/>
                </a:ext>
              </a:extLst>
            </a:blip>
            <a:stretch>
              <a:fillRect/>
            </a:stretch>
          </a:blipFill>
        </p:spPr>
        <p:txBody>
          <a:bodyPr/>
          <a:lstStyle/>
          <a:p>
            <a:endParaRPr lang="es-CL"/>
          </a:p>
        </p:txBody>
      </p:sp>
      <p:sp>
        <p:nvSpPr>
          <p:cNvPr id="9" name="TextBox 9"/>
          <p:cNvSpPr txBox="1"/>
          <p:nvPr/>
        </p:nvSpPr>
        <p:spPr>
          <a:xfrm>
            <a:off x="3964035" y="1203058"/>
            <a:ext cx="9399616" cy="1371600"/>
          </a:xfrm>
          <a:prstGeom prst="rect">
            <a:avLst/>
          </a:prstGeom>
        </p:spPr>
        <p:txBody>
          <a:bodyPr lIns="0" tIns="0" rIns="0" bIns="0" rtlCol="0" anchor="t">
            <a:spAutoFit/>
          </a:bodyPr>
          <a:lstStyle/>
          <a:p>
            <a:pPr marL="0" lvl="0" indent="0" algn="ctr">
              <a:lnSpc>
                <a:spcPts val="10771"/>
              </a:lnSpc>
            </a:pPr>
            <a:r>
              <a:rPr lang="en-US" sz="8976" spc="-394">
                <a:solidFill>
                  <a:srgbClr val="F0F6F5"/>
                </a:solidFill>
                <a:latin typeface="Mokoto"/>
                <a:ea typeface="Mokoto"/>
                <a:cs typeface="Mokoto"/>
                <a:sym typeface="Mokoto"/>
              </a:rPr>
              <a:t>CONCLUSIÓN</a:t>
            </a:r>
          </a:p>
        </p:txBody>
      </p:sp>
      <p:sp>
        <p:nvSpPr>
          <p:cNvPr id="10" name="Freeform 10"/>
          <p:cNvSpPr/>
          <p:nvPr/>
        </p:nvSpPr>
        <p:spPr>
          <a:xfrm>
            <a:off x="9019598" y="3465826"/>
            <a:ext cx="8040902" cy="4491597"/>
          </a:xfrm>
          <a:custGeom>
            <a:avLst/>
            <a:gdLst/>
            <a:ahLst/>
            <a:cxnLst/>
            <a:rect l="l" t="t" r="r" b="b"/>
            <a:pathLst>
              <a:path w="8040902" h="4491597">
                <a:moveTo>
                  <a:pt x="0" y="0"/>
                </a:moveTo>
                <a:lnTo>
                  <a:pt x="8040902" y="0"/>
                </a:lnTo>
                <a:lnTo>
                  <a:pt x="8040902" y="4491597"/>
                </a:lnTo>
                <a:lnTo>
                  <a:pt x="0" y="4491597"/>
                </a:lnTo>
                <a:lnTo>
                  <a:pt x="0" y="0"/>
                </a:lnTo>
                <a:close/>
              </a:path>
            </a:pathLst>
          </a:custGeom>
          <a:blipFill>
            <a:blip r:embed="rId3"/>
            <a:stretch>
              <a:fillRect/>
            </a:stretch>
          </a:blipFill>
        </p:spPr>
        <p:txBody>
          <a:bodyPr/>
          <a:lstStyle/>
          <a:p>
            <a:endParaRPr lang="es-CL"/>
          </a:p>
        </p:txBody>
      </p:sp>
      <p:sp>
        <p:nvSpPr>
          <p:cNvPr id="11" name="TextBox 11"/>
          <p:cNvSpPr txBox="1"/>
          <p:nvPr/>
        </p:nvSpPr>
        <p:spPr>
          <a:xfrm>
            <a:off x="1805348" y="3408676"/>
            <a:ext cx="6858495" cy="4810692"/>
          </a:xfrm>
          <a:prstGeom prst="rect">
            <a:avLst/>
          </a:prstGeom>
        </p:spPr>
        <p:txBody>
          <a:bodyPr lIns="0" tIns="0" rIns="0" bIns="0" rtlCol="0" anchor="t">
            <a:spAutoFit/>
          </a:bodyPr>
          <a:lstStyle/>
          <a:p>
            <a:pPr algn="just">
              <a:lnSpc>
                <a:spcPts val="2977"/>
              </a:lnSpc>
            </a:pPr>
            <a:r>
              <a:rPr lang="en-US" sz="1985">
                <a:solidFill>
                  <a:srgbClr val="05061C"/>
                </a:solidFill>
                <a:latin typeface="Canva Sans"/>
                <a:ea typeface="Canva Sans"/>
                <a:cs typeface="Canva Sans"/>
                <a:sym typeface="Canva Sans"/>
              </a:rPr>
              <a:t>El desarrollo de DataBridge permitió abordar la gestión de cobranza mediante una plataforma que organiza carteras por campañas y reúne alternativas de consulta, convenios y pagos. La propuesta busca reducir el trabajo manual caso a caso y facilitar el seguimiento de las obligaciones.</a:t>
            </a:r>
          </a:p>
          <a:p>
            <a:pPr algn="just">
              <a:lnSpc>
                <a:spcPts val="2977"/>
              </a:lnSpc>
            </a:pPr>
            <a:r>
              <a:rPr lang="en-US" sz="1985">
                <a:solidFill>
                  <a:srgbClr val="05061C"/>
                </a:solidFill>
                <a:latin typeface="Canva Sans"/>
                <a:ea typeface="Canva Sans"/>
                <a:cs typeface="Canva Sans"/>
                <a:sym typeface="Canva Sans"/>
              </a:rPr>
              <a:t>El proyecto también fortaleció nuestras competencias en desarrollo fullstack, gestión ágil, adaptabilidad y liderazgo colaborativo. Como siguiente paso, corresponde consolidar las pruebas del flujo completo y validar la solución en escenarios de uso, incorporando la retroalimentación para continuar mejorándola.</a:t>
            </a:r>
          </a:p>
          <a:p>
            <a:pPr algn="just">
              <a:lnSpc>
                <a:spcPts val="2977"/>
              </a:lnSpc>
            </a:pPr>
            <a:endParaRPr lang="en-US" sz="1985">
              <a:solidFill>
                <a:srgbClr val="05061C"/>
              </a:solidFill>
              <a:latin typeface="Canva Sans"/>
              <a:ea typeface="Canva Sans"/>
              <a:cs typeface="Canva Sans"/>
              <a:sym typeface="Canva Sans"/>
            </a:endParaRPr>
          </a:p>
        </p:txBody>
      </p:sp>
      <p:sp>
        <p:nvSpPr>
          <p:cNvPr id="12" name="Freeform 12"/>
          <p:cNvSpPr/>
          <p:nvPr/>
        </p:nvSpPr>
        <p:spPr>
          <a:xfrm flipH="1">
            <a:off x="-5076772" y="386528"/>
            <a:ext cx="8720668" cy="2292381"/>
          </a:xfrm>
          <a:custGeom>
            <a:avLst/>
            <a:gdLst/>
            <a:ahLst/>
            <a:cxnLst/>
            <a:rect l="l" t="t" r="r" b="b"/>
            <a:pathLst>
              <a:path w="8720668" h="2292381">
                <a:moveTo>
                  <a:pt x="8720668" y="0"/>
                </a:moveTo>
                <a:lnTo>
                  <a:pt x="0" y="0"/>
                </a:lnTo>
                <a:lnTo>
                  <a:pt x="0" y="2292381"/>
                </a:lnTo>
                <a:lnTo>
                  <a:pt x="8720668" y="2292381"/>
                </a:lnTo>
                <a:lnTo>
                  <a:pt x="8720668" y="0"/>
                </a:lnTo>
                <a:close/>
              </a:path>
            </a:pathLst>
          </a:custGeom>
          <a:blipFill>
            <a:blip>
              <a:alphaModFix amt="38000"/>
              <a:extLst>
                <a:ext uri="{96DAC541-7B7A-43D3-8B79-37D633B846F1}">
                  <asvg:svgBlip xmlns:asvg="http://schemas.microsoft.com/office/drawing/2016/SVG/main" r:embed="rId2"/>
                </a:ext>
              </a:extLst>
            </a:blip>
            <a:stretch>
              <a:fillRect/>
            </a:stretch>
          </a:blipFill>
        </p:spPr>
        <p:txBody>
          <a:bodyPr/>
          <a:lstStyle/>
          <a:p>
            <a:endParaRPr lang="es-CL"/>
          </a:p>
        </p:txBody>
      </p:sp>
    </p:spTree>
  </p:cSld>
  <p:clrMapOvr>
    <a:masterClrMapping/>
  </p:clrMapOvr>
  <p:transition>
    <p:push/>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14</TotalTime>
  <Words>1057</Words>
  <Application>Microsoft Office PowerPoint</Application>
  <PresentationFormat>Personalizado</PresentationFormat>
  <Paragraphs>84</Paragraphs>
  <Slides>13</Slides>
  <Notes>1</Notes>
  <HiddenSlides>0</HiddenSlides>
  <MMClips>0</MMClips>
  <ScaleCrop>false</ScaleCrop>
  <HeadingPairs>
    <vt:vector size="8" baseType="variant">
      <vt:variant>
        <vt:lpstr>Fuentes usadas</vt:lpstr>
      </vt:variant>
      <vt:variant>
        <vt:i4>7</vt:i4>
      </vt:variant>
      <vt:variant>
        <vt:lpstr>Tema</vt:lpstr>
      </vt:variant>
      <vt:variant>
        <vt:i4>1</vt:i4>
      </vt:variant>
      <vt:variant>
        <vt:lpstr>Servidores OLE incrustados</vt:lpstr>
      </vt:variant>
      <vt:variant>
        <vt:i4>1</vt:i4>
      </vt:variant>
      <vt:variant>
        <vt:lpstr>Títulos de diapositiva</vt:lpstr>
      </vt:variant>
      <vt:variant>
        <vt:i4>13</vt:i4>
      </vt:variant>
    </vt:vector>
  </HeadingPairs>
  <TitlesOfParts>
    <vt:vector size="22" baseType="lpstr">
      <vt:lpstr>Calibri</vt:lpstr>
      <vt:lpstr>Canva Sans</vt:lpstr>
      <vt:lpstr>Canva Sans Bold</vt:lpstr>
      <vt:lpstr>Sniglet</vt:lpstr>
      <vt:lpstr>Arial</vt:lpstr>
      <vt:lpstr>Mokoto</vt:lpstr>
      <vt:lpstr>Canva Sans Medium</vt:lpstr>
      <vt:lpstr>Office Theme</vt:lpstr>
      <vt:lpstr>Worksheet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Diapositivas Informática y Tecnología Ilustrado Moderno Verde Oscuro</dc:title>
  <cp:lastModifiedBy>MARTIN PHILIP GUTIERREZ KURUZ</cp:lastModifiedBy>
  <cp:revision>5</cp:revision>
  <dcterms:created xsi:type="dcterms:W3CDTF">2006-08-16T00:00:00Z</dcterms:created>
  <dcterms:modified xsi:type="dcterms:W3CDTF">2026-10-19T19:49:08Z</dcterms:modified>
  <dc:identifier>DAHYU6w9LsY</dc:identifier>
</cp:coreProperties>
</file>